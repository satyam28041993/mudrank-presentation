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7.jpg"/><Relationship Id="rId7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C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40080"/>
            <a:ext cx="3474720" cy="347472"/>
          </a:xfrm>
          <a:prstGeom prst="roundRect">
            <a:avLst>
              <a:gd name="adj" fmla="val 8000"/>
            </a:avLst>
          </a:prstGeom>
          <a:solidFill>
            <a:srgbClr val="16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949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6E4EE"/>
                </a:solidFill>
                <a:latin typeface="Candara"/>
              </a:rPr>
              <a:t>MAHARASHTRA  ·  REGISTRATION &amp; STAMPS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ndara"/>
              </a:rPr>
              <a:t>PROPIX  |  PRAKRUTI GRAPHIC PVT.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Secure Legal Paper</a:t>
            </a:r>
          </a:p>
          <a:p>
            <a:pPr algn="l">
              <a:spcBef>
                <a:spcPts val="200"/>
              </a:spcBef>
            </a:pPr>
            <a:r>
              <a:rPr sz="2800" b="1">
                <a:solidFill>
                  <a:srgbClr val="FFFFFF"/>
                </a:solidFill>
                <a:latin typeface="Georgia"/>
              </a:rPr>
              <a:t>for Property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06A2B"/>
                </a:solidFill>
                <a:latin typeface="Candara"/>
              </a:rPr>
              <a:t>Physical Security  +  Digital QR  +  Traceability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867912"/>
            <a:ext cx="128016" cy="128016"/>
          </a:xfrm>
          <a:prstGeom prst="ellipse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94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5E2"/>
                </a:solidFill>
                <a:latin typeface="Candara"/>
              </a:rPr>
              <a:t>Non-tearable 130–140 micron in-house paper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215384"/>
            <a:ext cx="128016" cy="128016"/>
          </a:xfrm>
          <a:prstGeom prst="ellipse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5E2"/>
                </a:solidFill>
                <a:latin typeface="Candara"/>
              </a:rPr>
              <a:t>Watermark, VOID, UV, hologram, foil &amp; emboss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562856"/>
            <a:ext cx="128016" cy="128016"/>
          </a:xfrm>
          <a:prstGeom prst="ellipse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897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5E2"/>
                </a:solidFill>
                <a:latin typeface="Candara"/>
              </a:rPr>
              <a:t>Unique QR for verify · access · track &amp; trace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4910328"/>
            <a:ext cx="128016" cy="128016"/>
          </a:xfrm>
          <a:prstGeom prst="ellipse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371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5E2"/>
                </a:solidFill>
                <a:latin typeface="Candara"/>
              </a:rPr>
              <a:t>Built for INDEX-I / Stamp &amp; Registration use</a:t>
            </a:r>
          </a:p>
        </p:txBody>
      </p:sp>
      <p:pic>
        <p:nvPicPr>
          <p:cNvPr id="18" name="Picture 17" descr="full_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502920"/>
            <a:ext cx="3291840" cy="58521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263640"/>
            <a:ext cx="5852160" cy="594360"/>
          </a:xfrm>
          <a:prstGeom prst="rect">
            <a:avLst/>
          </a:prstGeom>
          <a:solidFill>
            <a:srgbClr val="0A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8BA"/>
                </a:solidFill>
                <a:latin typeface="Candara"/>
              </a:rPr>
              <a:t>prakruti@prakrutigraphic.com  ·  +91 98212 32349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2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What's Inside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Problem → Facts → Product → Features → Digital Trace → Impact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06A2B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433"/>
                </a:solidFill>
                <a:latin typeface="Candara"/>
              </a:rPr>
              <a:t>The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272"/>
                </a:solidFill>
                <a:latin typeface="Candara"/>
              </a:rPr>
              <a:t>Fraud, duplication &amp; weak document barriers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73736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06A2B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68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433"/>
                </a:solidFill>
                <a:latin typeface="Candara"/>
              </a:rPr>
              <a:t>Maharashtra 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272"/>
                </a:solidFill>
                <a:latin typeface="Candara"/>
              </a:rPr>
              <a:t>Revenue scale + recent case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3736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06A2B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468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433"/>
                </a:solidFill>
                <a:latin typeface="Candara"/>
              </a:rPr>
              <a:t>Propix Mudrank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272"/>
                </a:solidFill>
                <a:latin typeface="Candara"/>
              </a:rPr>
              <a:t>Non-tearable secure legal paper platform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4904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06A2B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80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433"/>
                </a:solidFill>
                <a:latin typeface="Candara"/>
              </a:rPr>
              <a:t>Physical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272"/>
                </a:solidFill>
                <a:latin typeface="Candara"/>
              </a:rPr>
              <a:t>8-process security manufacturing stack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74904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06A2B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480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433"/>
                </a:solidFill>
                <a:latin typeface="Candara"/>
              </a:rPr>
              <a:t>Digital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272"/>
                </a:solidFill>
                <a:latin typeface="Candara"/>
              </a:rPr>
              <a:t>QR verify, access of information, track &amp; trace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74904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06A2B"/>
                </a:solidFill>
                <a:latin typeface="Georgia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480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433"/>
                </a:solidFill>
                <a:latin typeface="Candara"/>
              </a:rPr>
              <a:t>Impact &amp; 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272"/>
                </a:solidFill>
                <a:latin typeface="Candara"/>
              </a:rPr>
              <a:t>Control, trust and revenue protection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3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Why Secure Legal Paper —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Maharashtra's registration ecosystem is large, valuable, and under fraud pressure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D06A2B"/>
                </a:solidFill>
                <a:latin typeface="Georgia"/>
              </a:rPr>
              <a:t>₹59,150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E6272"/>
                </a:solidFill>
                <a:latin typeface="Candara"/>
              </a:rPr>
              <a:t>Stamps &amp; Registration Fees
(CAG Accounts FY 2024–25)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9164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D06A2B"/>
                </a:solidFill>
                <a:latin typeface="Georgia"/>
              </a:rPr>
              <a:t>13.4 Lakh+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688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E6272"/>
                </a:solidFill>
                <a:latin typeface="Candara"/>
              </a:rPr>
              <a:t>Documents registered
(IGR Maharashtra FY 2024–25)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D06A2B"/>
                </a:solidFill>
                <a:latin typeface="Georgia"/>
              </a:rPr>
              <a:t>₹10–20k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688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E6272"/>
                </a:solidFill>
                <a:latin typeface="Candara"/>
              </a:rPr>
              <a:t>Alleged adjudication irregularities
under statewide probe*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29000"/>
            <a:ext cx="54864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29000"/>
            <a:ext cx="91440" cy="2606040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5935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433"/>
                </a:solidFill>
                <a:latin typeface="Candara"/>
              </a:rPr>
              <a:t>What is at stake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93192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272"/>
                </a:solidFill>
                <a:latin typeface="Candara"/>
              </a:rPr>
              <a:t>•  Property documents are the backbone of ownership &amp; lending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Weak stationery + process gaps enable forgery &amp; misuse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Banks, buyers and citizens need instant authenticity checks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State needs barriers that protect revenue and public trust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429000"/>
            <a:ext cx="54864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429000"/>
            <a:ext cx="91440" cy="260604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35935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433"/>
                </a:solidFill>
                <a:latin typeface="Candara"/>
              </a:rPr>
              <a:t>Current paper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93192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272"/>
                </a:solidFill>
                <a:latin typeface="Candara"/>
              </a:rPr>
              <a:t>•  Mostly plain / green legal stationery in common use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Easy to photocopy, tear, alter or visually fake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No strong sheet-level digital identity on paper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Limited physical barriers across the full process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*Source references: CAG Accounts at a Glance 2024–25; IGR Maharashtra; Maharashtra Assembly / media reports on stamp duty probe.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Problem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4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Five Control Gaps in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Your core problem statement — mapped for solution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562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ndar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433"/>
                </a:solidFill>
                <a:latin typeface="Candara"/>
              </a:rPr>
              <a:t>Online / Process Fraud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0116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6272"/>
                </a:solidFill>
                <a:latin typeface="Candara"/>
              </a:rPr>
              <a:t>Fraudulent registrations and misuse found in recent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6888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651760"/>
            <a:ext cx="411480" cy="411480"/>
          </a:xfrm>
          <a:prstGeom prst="ellipse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24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ndar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6060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433"/>
                </a:solidFill>
                <a:latin typeface="Candara"/>
              </a:rPr>
              <a:t>Documentation Duplication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88036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6272"/>
                </a:solidFill>
                <a:latin typeface="Candara"/>
              </a:rPr>
              <a:t>Forged deeds, fake seals, duplicate sales &amp; AI-made papers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3756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520440"/>
            <a:ext cx="411480" cy="411480"/>
          </a:xfrm>
          <a:prstGeom prst="ellipse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93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ndar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4747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433"/>
                </a:solidFill>
                <a:latin typeface="Candara"/>
              </a:rPr>
              <a:t>No Process Barriers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490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6272"/>
                </a:solidFill>
                <a:latin typeface="Candara"/>
              </a:rPr>
              <a:t>No consistent QR / security paper checkpoints end-to-end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0624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4389120"/>
            <a:ext cx="411480" cy="411480"/>
          </a:xfrm>
          <a:prstGeom prst="ellipse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4622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ndar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3434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433"/>
                </a:solidFill>
                <a:latin typeface="Candara"/>
              </a:rPr>
              <a:t>No Physical + Digital Combo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6177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6272"/>
                </a:solidFill>
                <a:latin typeface="Candara"/>
              </a:rPr>
              <a:t>Digital systems and paper security are not tightly combined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07492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5257800"/>
            <a:ext cx="411480" cy="41148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309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ndar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2120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433"/>
                </a:solidFill>
                <a:latin typeface="Candara"/>
              </a:rPr>
              <a:t>Need Strong Traceability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4864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6272"/>
                </a:solidFill>
                <a:latin typeface="Candara"/>
              </a:rPr>
              <a:t>Verify authenticity, access info, and track document life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Point 01 · Fraud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5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Online / Process Fraud Found in Past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Recent Maharashtra cases show registration &amp; stamp process vulnerabilities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109728" cy="196596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E6272"/>
                </a:solidFill>
                <a:latin typeface="Candara"/>
              </a:rPr>
              <a:t>Navi Mumbai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53A2E"/>
                </a:solidFill>
                <a:latin typeface="Georgia"/>
              </a:rPr>
              <a:t>₹13.91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141+ property documents of unauthorised buildings allegedly registered with under-collected stamp duty; FIR against officials/agents.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4592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645920"/>
            <a:ext cx="109728" cy="196596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E6272"/>
                </a:solidFill>
                <a:latin typeface="Candara"/>
              </a:rPr>
              <a:t>Statewide Probe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53A2E"/>
                </a:solidFill>
                <a:latin typeface="Georgia"/>
              </a:rPr>
              <a:t>₹10–20k Cr*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06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AG-led task force ordered to review stamp duty adjudication cases (Apr 2021–Mar 2026) after irregularity reports.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109728" cy="196596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77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E6272"/>
                </a:solidFill>
                <a:latin typeface="Candara"/>
              </a:rPr>
              <a:t>Marathwada Racket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53A2E"/>
                </a:solidFill>
                <a:latin typeface="Georgia"/>
              </a:rPr>
              <a:t>16+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548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Forged ownership docs, fake inheritance certificates, duplicate sales; AI-generated documents &amp; impersonation flagged.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79476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794760"/>
            <a:ext cx="109728" cy="196596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977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E6272"/>
                </a:solidFill>
                <a:latin typeface="Candara"/>
              </a:rPr>
              <a:t>Satara Land Grab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53A2E"/>
                </a:solidFill>
                <a:latin typeface="Georgia"/>
              </a:rPr>
              <a:t>Fake seals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548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Forged sale deed + fake sub-registrar seals/signatures; registration number not found in official records.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Point 02 · Duplication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6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Documentation Duplication Found in Past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Forgery thrives when paper can be copied and seals can be faked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91440" cy="402336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562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433"/>
                </a:solidFill>
                <a:latin typeface="Candara"/>
              </a:rPr>
              <a:t>What investigators keep finding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19456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272"/>
                </a:solidFill>
                <a:latin typeface="Candara"/>
              </a:rPr>
              <a:t>•  Forged sale deeds used to transfer ownership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Fake sub-registrar seals &amp; forged signatures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Duplicate / multiple sales of same property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Fabricated inheritance / ownership certificates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AI-assisted document generation reported in probes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91440" cy="4023360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8562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433"/>
                </a:solidFill>
                <a:latin typeface="Candara"/>
              </a:rPr>
              <a:t>Why plain green paper fails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272"/>
                </a:solidFill>
                <a:latin typeface="Candara"/>
              </a:rPr>
              <a:t>•  Plain stationery photocopies look 'good enough'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No VOID / anti-copy reaction on many sheets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Weak tactile / optical cues for field officers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Hard for citizens &amp; banks to spot fakes quickly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Paper identity not bound to a unique digital record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Point 03 · No Barriers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7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No Control on Documentation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Because barriers (security paper + QR + digital checks) are missing across the 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783080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433"/>
                </a:solidFill>
                <a:latin typeface="Candara"/>
              </a:rPr>
              <a:t>1.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E6272"/>
                </a:solidFill>
                <a:latin typeface="Candara"/>
              </a:rPr>
              <a:t>Deed prepared
on plain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06A2B"/>
                </a:solidFill>
                <a:latin typeface="Candara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783080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9659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433"/>
                </a:solidFill>
                <a:latin typeface="Candara"/>
              </a:rPr>
              <a:t>2. Stamp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37744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E6272"/>
                </a:solidFill>
                <a:latin typeface="Candara"/>
              </a:rPr>
              <a:t>Duty paid /
stationery issued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06A2B"/>
                </a:solidFill>
                <a:latin typeface="Candara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1783080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19659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433"/>
                </a:solidFill>
                <a:latin typeface="Candara"/>
              </a:rPr>
              <a:t>3. Register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37744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E6272"/>
                </a:solidFill>
                <a:latin typeface="Candara"/>
              </a:rPr>
              <a:t>Sub-registrar
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06A2B"/>
                </a:solidFill>
                <a:latin typeface="Candara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1783080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19659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433"/>
                </a:solidFill>
                <a:latin typeface="Candara"/>
              </a:rPr>
              <a:t>4. Mutate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237744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E6272"/>
                </a:solidFill>
                <a:latin typeface="Candara"/>
              </a:rPr>
              <a:t>Mutation &amp;
record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06A2B"/>
                </a:solidFill>
                <a:latin typeface="Candara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1783080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19659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433"/>
                </a:solidFill>
                <a:latin typeface="Candara"/>
              </a:rPr>
              <a:t>5. 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37744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E6272"/>
                </a:solidFill>
                <a:latin typeface="Candara"/>
              </a:rPr>
              <a:t>Bank / buyer
verification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57600"/>
            <a:ext cx="112471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657600"/>
            <a:ext cx="11247120" cy="73152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886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53A2E"/>
                </a:solidFill>
                <a:latin typeface="Candara"/>
              </a:rPr>
              <a:t>Gap today: open process without layered barriers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3434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433"/>
                </a:solidFill>
                <a:latin typeface="Candara"/>
              </a:rPr>
              <a:t>•  No mandatory high-security substrate on every critical sheet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02433"/>
                </a:solidFill>
                <a:latin typeface="Candara"/>
              </a:rPr>
              <a:t>•  No unique QR / serial binding paper to cloud identity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02433"/>
                </a:solidFill>
                <a:latin typeface="Candara"/>
              </a:rPr>
              <a:t>•  No instant Genuine / Fake scan for field &amp; bank use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02433"/>
                </a:solidFill>
                <a:latin typeface="Candara"/>
              </a:rPr>
              <a:t>•  No live scan intelligence (location / reuse / anomaly)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Facts &amp;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8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Maharashtra Stamp &amp; Registration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High-value ecosystem that needs high-security stationery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67665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433"/>
                </a:solidFill>
                <a:latin typeface="Candara"/>
              </a:rPr>
              <a:t>Stamp Duty &amp; Registration Collection Trend (₹ Crore)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103120"/>
            <a:ext cx="5943600" cy="12700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" y="3230880"/>
            <a:ext cx="5943600" cy="12700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4358640"/>
            <a:ext cx="5943600" cy="12700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5486400"/>
            <a:ext cx="5943600" cy="12700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94447" y="4112742"/>
            <a:ext cx="817245" cy="1373658"/>
          </a:xfrm>
          <a:prstGeom prst="rect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7287" y="3856710"/>
            <a:ext cx="109156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02433"/>
                </a:solidFill>
                <a:latin typeface="Candara"/>
              </a:rPr>
              <a:t>25,288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567" y="5559552"/>
            <a:ext cx="118300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6272"/>
                </a:solidFill>
                <a:latin typeface="Candara"/>
              </a:rPr>
              <a:t>FY21-22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0347" y="3583606"/>
            <a:ext cx="817245" cy="1902794"/>
          </a:xfrm>
          <a:prstGeom prst="rect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43187" y="3327574"/>
            <a:ext cx="109156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02433"/>
                </a:solidFill>
                <a:latin typeface="Candara"/>
              </a:rPr>
              <a:t>35,029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7467" y="5559552"/>
            <a:ext cx="118300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6272"/>
                </a:solidFill>
                <a:latin typeface="Candara"/>
              </a:rPr>
              <a:t>FY22-23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6247" y="3308200"/>
            <a:ext cx="817245" cy="2178200"/>
          </a:xfrm>
          <a:prstGeom prst="rect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29087" y="3052168"/>
            <a:ext cx="109156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02433"/>
                </a:solidFill>
                <a:latin typeface="Candara"/>
              </a:rPr>
              <a:t>40,099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3367" y="5559552"/>
            <a:ext cx="118300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6272"/>
                </a:solidFill>
                <a:latin typeface="Candara"/>
              </a:rPr>
              <a:t>FY23-24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52147" y="2353734"/>
            <a:ext cx="817245" cy="313266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14987" y="2097702"/>
            <a:ext cx="109156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02433"/>
                </a:solidFill>
                <a:latin typeface="Candara"/>
              </a:rPr>
              <a:t>57,670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69267" y="5559552"/>
            <a:ext cx="118300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6272"/>
                </a:solidFill>
                <a:latin typeface="Candara"/>
              </a:rPr>
              <a:t>FY24-25*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1600200"/>
            <a:ext cx="420624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2433"/>
                </a:solidFill>
                <a:latin typeface="Candara"/>
              </a:rPr>
              <a:t>Why this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233172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6272"/>
                </a:solidFill>
                <a:latin typeface="Candara"/>
              </a:rPr>
              <a:t>•  Large document volumes every year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4E6272"/>
                </a:solidFill>
                <a:latin typeface="Candara"/>
              </a:rPr>
              <a:t>•  High revenue sensitivity to leakage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4E6272"/>
                </a:solidFill>
                <a:latin typeface="Candara"/>
              </a:rPr>
              <a:t>•  Fraud cases show process pressure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4E6272"/>
                </a:solidFill>
                <a:latin typeface="Candara"/>
              </a:rPr>
              <a:t>•  Secure paper + QR reduces forgery surface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4E6272"/>
                </a:solidFill>
                <a:latin typeface="Candara"/>
              </a:rPr>
              <a:t>•  Better verify = faster bank / citizen trust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*FY24–25 collection ~₹57,670 Cr reported for Registration &amp; Stamps dept (media). Earlier years from IGR published series. Use as directional context.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9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Propix Mudrank — Secure Legal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In-house non-tearable 130–140 micron paper with multi-layer physical + digital security</a:t>
            </a:r>
          </a:p>
        </p:txBody>
      </p:sp>
      <p:pic>
        <p:nvPicPr>
          <p:cNvPr id="10" name="Picture 9" descr="process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258303" cy="44805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937760" y="1645920"/>
            <a:ext cx="6766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71907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06A2B"/>
                </a:solidFill>
                <a:latin typeface="Candara"/>
              </a:rPr>
              <a:t>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65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433"/>
                </a:solidFill>
                <a:latin typeface="Candara"/>
              </a:rPr>
              <a:t>INDEX-I style layout for Registration &amp; Stamps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377440"/>
            <a:ext cx="6766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4505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06A2B"/>
                </a:solidFill>
                <a:latin typeface="Candara"/>
              </a:rPr>
              <a:t>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697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433"/>
                </a:solidFill>
                <a:latin typeface="Candara"/>
              </a:rPr>
              <a:t>216 × 356 mm (±3 mm) — legal format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3108960"/>
            <a:ext cx="6766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18211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06A2B"/>
                </a:solidFill>
                <a:latin typeface="Candara"/>
              </a:rPr>
              <a:t>Thickness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433"/>
                </a:solidFill>
                <a:latin typeface="Candara"/>
              </a:rPr>
              <a:t>140 micron (±10) non-tearable substrate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3840480"/>
            <a:ext cx="6766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391363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06A2B"/>
                </a:solidFill>
                <a:latin typeface="Candara"/>
              </a:rPr>
              <a:t>Authority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4160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433"/>
                </a:solidFill>
                <a:latin typeface="Candara"/>
              </a:rPr>
              <a:t>महाराष्ट्र शासन · नोंदणी व मुद्रांक विभाग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4572000"/>
            <a:ext cx="6766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46451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06A2B"/>
                </a:solidFill>
                <a:latin typeface="Candara"/>
              </a:rPr>
              <a:t>Physical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48920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433"/>
                </a:solidFill>
                <a:latin typeface="Candara"/>
              </a:rPr>
              <a:t>Watermark · VOID · UV · Hologram · Foil · Emboss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5303520"/>
            <a:ext cx="6766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537667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06A2B"/>
                </a:solidFill>
                <a:latin typeface="Candara"/>
              </a:rPr>
              <a:t>Digital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5623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433"/>
                </a:solidFill>
                <a:latin typeface="Candara"/>
              </a:rPr>
              <a:t>QR anywhere on paper for verify &amp; trace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Point 04 · Combination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10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Physical + Digital — Together on One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Security is incomplete if either layer is missing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3949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394960" cy="502920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ndara"/>
              </a:rPr>
              <a:t>PHYSICAL ON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433"/>
                </a:solidFill>
                <a:latin typeface="Candara"/>
              </a:rPr>
              <a:t>•  Non-tearable 140µ substrate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02433"/>
                </a:solidFill>
                <a:latin typeface="Candara"/>
              </a:rPr>
              <a:t>•  Watermark &amp; micro patterns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02433"/>
                </a:solidFill>
                <a:latin typeface="Candara"/>
              </a:rPr>
              <a:t>•  Anti-copy VOID pantograph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02433"/>
                </a:solidFill>
                <a:latin typeface="Candara"/>
              </a:rPr>
              <a:t>•  Rainbow guilloche border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02433"/>
                </a:solidFill>
                <a:latin typeface="Candara"/>
              </a:rPr>
              <a:t>•  Invisible / UV ink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02433"/>
                </a:solidFill>
                <a:latin typeface="Candara"/>
              </a:rPr>
              <a:t>•  Hologram + metallic hot foil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02433"/>
                </a:solidFill>
                <a:latin typeface="Candara"/>
              </a:rPr>
              <a:t>•  Blank emboss (MH)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91640"/>
            <a:ext cx="53949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691640"/>
            <a:ext cx="5394960" cy="502920"/>
          </a:xfrm>
          <a:prstGeom prst="rect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83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ndara"/>
              </a:rPr>
              <a:t>DIGITAL ON 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3774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433"/>
                </a:solidFill>
                <a:latin typeface="Candara"/>
              </a:rPr>
              <a:t>•  Unique QR / serial per sheet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02433"/>
                </a:solidFill>
                <a:latin typeface="Candara"/>
              </a:rPr>
              <a:t>•  Cloud authenticity match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02433"/>
                </a:solidFill>
                <a:latin typeface="Candara"/>
              </a:rPr>
              <a:t>•  Instant Genuine / Fake result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02433"/>
                </a:solidFill>
                <a:latin typeface="Candara"/>
              </a:rPr>
              <a:t>•  Access of registered information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02433"/>
                </a:solidFill>
                <a:latin typeface="Candara"/>
              </a:rPr>
              <a:t>•  Scan location · time · reuse alerts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02433"/>
                </a:solidFill>
                <a:latin typeface="Candara"/>
              </a:rPr>
              <a:t>•  Admin Track &amp; Trace dashboard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02433"/>
                </a:solidFill>
                <a:latin typeface="Candara"/>
              </a:rPr>
              <a:t>•  Barrier at every verification 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11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8-Process Security Manufacturing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In-house process-wise build — each layer adds a verification barrier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965960"/>
            <a:ext cx="640080" cy="640080"/>
          </a:xfrm>
          <a:prstGeom prst="ellipse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ndar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433"/>
                </a:solidFill>
                <a:latin typeface="Candara"/>
              </a:rPr>
              <a:t>Green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63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E6272"/>
                </a:solidFill>
                <a:latin typeface="Candara"/>
              </a:rPr>
              <a:t>Secure colour substrate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73736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1965960"/>
            <a:ext cx="640080" cy="640080"/>
          </a:xfrm>
          <a:prstGeom prst="ellipse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ndar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433"/>
                </a:solidFill>
                <a:latin typeface="Candara"/>
              </a:rPr>
              <a:t>Watermark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063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E6272"/>
                </a:solidFill>
                <a:latin typeface="Candara"/>
              </a:rPr>
              <a:t>Embedded identity mark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73736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60920" y="1965960"/>
            <a:ext cx="640080" cy="640080"/>
          </a:xfrm>
          <a:prstGeom prst="ellipse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ndar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433"/>
                </a:solidFill>
                <a:latin typeface="Candara"/>
              </a:rPr>
              <a:t>Anti-Copy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63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E6272"/>
                </a:solidFill>
                <a:latin typeface="Candara"/>
              </a:rPr>
              <a:t>VOID on photocopy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73736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87000" y="1965960"/>
            <a:ext cx="640080" cy="640080"/>
          </a:xfrm>
          <a:prstGeom prst="ellipse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8700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ndar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433"/>
                </a:solidFill>
                <a:latin typeface="Candara"/>
              </a:rPr>
              <a:t>4-Colour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063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E6272"/>
                </a:solidFill>
                <a:latin typeface="Candara"/>
              </a:rPr>
              <a:t>Official print layout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88620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508760" y="4114800"/>
            <a:ext cx="640080" cy="640080"/>
          </a:xfrm>
          <a:prstGeom prst="ellipse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8760" y="4251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ndar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892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433"/>
                </a:solidFill>
                <a:latin typeface="Candara"/>
              </a:rPr>
              <a:t>Invisible Ink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212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E6272"/>
                </a:solidFill>
                <a:latin typeface="Candara"/>
              </a:rPr>
              <a:t>UV महाराष्ट्र marks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388620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34840" y="4114800"/>
            <a:ext cx="640080" cy="640080"/>
          </a:xfrm>
          <a:prstGeom prst="ellipse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4251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ndara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4892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433"/>
                </a:solidFill>
                <a:latin typeface="Candara"/>
              </a:rPr>
              <a:t>Hologram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5212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E6272"/>
                </a:solidFill>
                <a:latin typeface="Candara"/>
              </a:rPr>
              <a:t>Hot foil stamping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388620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60920" y="4114800"/>
            <a:ext cx="640080" cy="640080"/>
          </a:xfrm>
          <a:prstGeom prst="ellipse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4251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ndara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892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433"/>
                </a:solidFill>
                <a:latin typeface="Candara"/>
              </a:rPr>
              <a:t>Metallic Logo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212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E6272"/>
                </a:solidFill>
                <a:latin typeface="Candara"/>
              </a:rPr>
              <a:t>Govt seal hot foil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35440" y="388620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87000" y="4114800"/>
            <a:ext cx="640080" cy="640080"/>
          </a:xfrm>
          <a:prstGeom prst="ellipse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87000" y="4251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ndara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4892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433"/>
                </a:solidFill>
                <a:latin typeface="Candara"/>
              </a:rPr>
              <a:t>Blank Emboss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5212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E6272"/>
                </a:solidFill>
                <a:latin typeface="Candara"/>
              </a:rPr>
              <a:t>Tactile MH pattern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Physical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12  /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13232"/>
            <a:ext cx="1645920" cy="292608"/>
          </a:xfrm>
          <a:prstGeom prst="roundRect">
            <a:avLst>
              <a:gd name="adj" fmla="val 8000"/>
            </a:avLst>
          </a:prstGeom>
          <a:solidFill>
            <a:srgbClr val="F3E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498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06A2B"/>
                </a:solidFill>
                <a:latin typeface="Candara"/>
              </a:rPr>
              <a:t>PROCESS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433"/>
                </a:solidFill>
                <a:latin typeface="Georgia"/>
              </a:rPr>
              <a:t>Non-tearable Secure Substrate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6272"/>
                </a:solidFill>
                <a:latin typeface="Candara"/>
              </a:rPr>
              <a:t>In-house 130–140 micron paper — built for legal durability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433"/>
                </a:solidFill>
                <a:latin typeface="Candara"/>
              </a:rPr>
              <a:t>•  Special non-tearable substrate processed in-house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140 micron (±10) thickness for legal-format strength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Resists casual tear, substitution and weak stationery fraud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Premium feel vs ordinary green legal paper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Foundation layer for all overt &amp; covert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53035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ocess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2579934" cy="42976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Physical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13  /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13232"/>
            <a:ext cx="1645920" cy="292608"/>
          </a:xfrm>
          <a:prstGeom prst="roundRect">
            <a:avLst>
              <a:gd name="adj" fmla="val 8000"/>
            </a:avLst>
          </a:prstGeom>
          <a:solidFill>
            <a:srgbClr val="F3E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498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06A2B"/>
                </a:solidFill>
                <a:latin typeface="Candara"/>
              </a:rPr>
              <a:t>PROCESS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433"/>
                </a:solidFill>
                <a:latin typeface="Georgia"/>
              </a:rPr>
              <a:t>Watermark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6272"/>
                </a:solidFill>
                <a:latin typeface="Candara"/>
              </a:rPr>
              <a:t>Embedded paper identity that photocopy cannot carry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433"/>
                </a:solidFill>
                <a:latin typeface="Candara"/>
              </a:rPr>
              <a:t>•  Process-integrated watermark marks across the sheet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Visible authentication under light / inspection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Fails under ordinary photocopy and low-grade reprint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Supports government-document authenticity cues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53035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ocess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2579934" cy="42976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Physical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14  /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13232"/>
            <a:ext cx="1645920" cy="292608"/>
          </a:xfrm>
          <a:prstGeom prst="roundRect">
            <a:avLst>
              <a:gd name="adj" fmla="val 8000"/>
            </a:avLst>
          </a:prstGeom>
          <a:solidFill>
            <a:srgbClr val="F3E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498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06A2B"/>
                </a:solidFill>
                <a:latin typeface="Candara"/>
              </a:rPr>
              <a:t>PROCESS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433"/>
                </a:solidFill>
                <a:latin typeface="Georgia"/>
              </a:rPr>
              <a:t>Anti-Photocopy VOID Printing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6272"/>
                </a:solidFill>
                <a:latin typeface="Candara"/>
              </a:rPr>
              <a:t>Hidden pantograph that exposes duplication attempts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433"/>
                </a:solidFill>
                <a:latin typeface="Candara"/>
              </a:rPr>
              <a:t>•  Fine-line security bands with hidden VOID pattern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Original looks clean; copy reveals VOID warning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Direct counter to documentation duplication fraud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Works as an instant visual barrier for examiners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53035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ocess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2579934" cy="42976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Physical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15  /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13232"/>
            <a:ext cx="1645920" cy="292608"/>
          </a:xfrm>
          <a:prstGeom prst="roundRect">
            <a:avLst>
              <a:gd name="adj" fmla="val 8000"/>
            </a:avLst>
          </a:prstGeom>
          <a:solidFill>
            <a:srgbClr val="F3E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498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06A2B"/>
                </a:solidFill>
                <a:latin typeface="Candara"/>
              </a:rPr>
              <a:t>PROCESS 04–05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433"/>
                </a:solidFill>
                <a:latin typeface="Georgia"/>
              </a:rPr>
              <a:t>Rainbow Border · Official Print · UV 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6272"/>
                </a:solidFill>
                <a:latin typeface="Candara"/>
              </a:rPr>
              <a:t>High-resolution guilloche + 4-colour layout + invisible महाराष्ट्र 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433"/>
                </a:solidFill>
                <a:latin typeface="Candara"/>
              </a:rPr>
              <a:t>•  Split-line high-res rainbow / guilloche border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4-colour official INDEX-I style government layout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Invisible ink printing of महाराष्ट्र on margins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UV inspection for covert field verification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Original close-up photos available for live 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53035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v_guilloc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4297680" cy="42976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Physical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16  /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13232"/>
            <a:ext cx="1645920" cy="292608"/>
          </a:xfrm>
          <a:prstGeom prst="roundRect">
            <a:avLst>
              <a:gd name="adj" fmla="val 8000"/>
            </a:avLst>
          </a:prstGeom>
          <a:solidFill>
            <a:srgbClr val="F3E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498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06A2B"/>
                </a:solidFill>
                <a:latin typeface="Candara"/>
              </a:rPr>
              <a:t>PROCESS 06–08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433"/>
                </a:solidFill>
                <a:latin typeface="Georgia"/>
              </a:rPr>
              <a:t>Hologram · Metallic Foil · Blank Emboss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6272"/>
                </a:solidFill>
                <a:latin typeface="Candara"/>
              </a:rPr>
              <a:t>Optical + tactile government authentication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433"/>
                </a:solidFill>
                <a:latin typeface="Candara"/>
              </a:rPr>
              <a:t>•  Hologram hot foil stamping for optical security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Metallic Maharashtra logo / seal with hot foil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Blank emboss repeating MH for feel-to-verify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Hard to replicate on desktop / office printers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Strong overt deterrent against forged stationery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53035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ologram_s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4297680" cy="42976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Original Feature Photos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17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Original Security Feature Close-ups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Captured from Propix Mudrank sample legal paper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002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v_guilloc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9928"/>
            <a:ext cx="155448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291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2433"/>
                </a:solidFill>
                <a:latin typeface="Candara"/>
              </a:rPr>
              <a:t>Rainbow Guilloche / UV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002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v_invisib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09928"/>
            <a:ext cx="1554480" cy="1554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89120" y="3291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2433"/>
                </a:solidFill>
                <a:latin typeface="Candara"/>
              </a:rPr>
              <a:t>Invisible / UV Reaction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6002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h_emboss_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709928"/>
            <a:ext cx="155448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75320" y="3291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2433"/>
                </a:solidFill>
                <a:latin typeface="Candara"/>
              </a:rPr>
              <a:t>MH Blank Emboss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8862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old_foi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95928"/>
            <a:ext cx="1554480" cy="1554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" y="5577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2433"/>
                </a:solidFill>
                <a:latin typeface="Candara"/>
              </a:rPr>
              <a:t>Metallic Hot Foil Seal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8862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hologram_sq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995928"/>
            <a:ext cx="1554480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89120" y="5577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2433"/>
                </a:solidFill>
                <a:latin typeface="Candara"/>
              </a:rPr>
              <a:t>Security Hologram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8862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ull_pap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3995928"/>
            <a:ext cx="874395" cy="15544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75320" y="5577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2433"/>
                </a:solidFill>
                <a:latin typeface="Candara"/>
              </a:rPr>
              <a:t>Full Paper Specimen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Physical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18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Security Features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Overt · Covert · Forensic — multi-layer defence on a single sheet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2926080" cy="457200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554480"/>
            <a:ext cx="2011680" cy="457200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94960" y="1554480"/>
            <a:ext cx="6309360" cy="457200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6459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How it stops fraud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29968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2029968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94960" y="2029968"/>
            <a:ext cx="6309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1214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Non-tearable 140µ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1214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Overt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121408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Hard to tear / substitute with normal paper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05456"/>
            <a:ext cx="2926080" cy="457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80" y="2505456"/>
            <a:ext cx="2011680" cy="457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94960" y="2505456"/>
            <a:ext cx="6309360" cy="457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Watermark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596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Covert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596896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Visible in light; fails on photocopy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80944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3280" y="2980944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94960" y="2980944"/>
            <a:ext cx="6309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0723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Anti-copy VOID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0723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Covert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072384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Hidden VOID appears on photocopy/scan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456432"/>
            <a:ext cx="2926080" cy="457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83280" y="3456432"/>
            <a:ext cx="2011680" cy="457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94960" y="3456432"/>
            <a:ext cx="6309360" cy="457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547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Guilloche border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547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Overt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54787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Fine-line pattern resists consumer print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931920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83280" y="393192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94960" y="3931920"/>
            <a:ext cx="6309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Invisible / UV ink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Covert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40233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UV check reveals महाराष्ट्र marks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407408"/>
            <a:ext cx="2926080" cy="457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83280" y="4407408"/>
            <a:ext cx="2011680" cy="457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94960" y="4407408"/>
            <a:ext cx="6309360" cy="457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498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Hologram + foil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4498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Overt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4498848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Optical / metallic features hard to fake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882896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83280" y="4882896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94960" y="4882896"/>
            <a:ext cx="6309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9743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MH blank emboss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49743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Tactile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0" y="4974336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Feel-to-verify raised authentication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358384"/>
            <a:ext cx="2926080" cy="457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383280" y="5358384"/>
            <a:ext cx="2011680" cy="457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394960" y="5358384"/>
            <a:ext cx="6309360" cy="4572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4498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Unique QR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74720" y="54498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Digital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0" y="5449824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2433"/>
                </a:solidFill>
                <a:latin typeface="Candara"/>
              </a:rPr>
              <a:t>Cloud match + reuse/anomaly detection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Point 05 ·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19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Strong Digital Support for 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Access of information · authenticity · security — from one scan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737360"/>
            <a:ext cx="21945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1965960"/>
            <a:ext cx="640080" cy="640080"/>
          </a:xfrm>
          <a:prstGeom prst="ellipse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ndar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2433"/>
                </a:solidFill>
                <a:latin typeface="Candara"/>
              </a:rPr>
              <a:t>Scan QR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E6272"/>
                </a:solidFill>
                <a:latin typeface="Candara"/>
              </a:rPr>
              <a:t>Officer / bank / citizen scans sheet QR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1737360"/>
            <a:ext cx="21945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74720" y="1965960"/>
            <a:ext cx="640080" cy="640080"/>
          </a:xfrm>
          <a:prstGeom prst="ellipse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ndar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788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2433"/>
                </a:solidFill>
                <a:latin typeface="Candara"/>
              </a:rPr>
              <a:t>Cloud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1089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E6272"/>
                </a:solidFill>
                <a:latin typeface="Candara"/>
              </a:rPr>
              <a:t>Serial + security payload checked 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737360"/>
            <a:ext cx="21945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06440" y="1965960"/>
            <a:ext cx="640080" cy="640080"/>
          </a:xfrm>
          <a:prstGeom prst="ellipse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ndar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788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2433"/>
                </a:solidFill>
                <a:latin typeface="Candara"/>
              </a:rPr>
              <a:t>Access Info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1089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E6272"/>
                </a:solidFill>
                <a:latin typeface="Candara"/>
              </a:rPr>
              <a:t>Document identity / status returned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737360"/>
            <a:ext cx="21945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38160" y="1965960"/>
            <a:ext cx="640080" cy="640080"/>
          </a:xfrm>
          <a:prstGeom prst="ellipse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ndar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2788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2433"/>
                </a:solidFill>
                <a:latin typeface="Candara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31089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E6272"/>
                </a:solidFill>
                <a:latin typeface="Candara"/>
              </a:rPr>
              <a:t>Genuine · Fake · Already Used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737360"/>
            <a:ext cx="21945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69880" y="1965960"/>
            <a:ext cx="640080" cy="640080"/>
          </a:xfrm>
          <a:prstGeom prst="ellipse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6988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ndar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788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2433"/>
                </a:solidFill>
                <a:latin typeface="Candara"/>
              </a:rPr>
              <a:t>Trace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1089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E6272"/>
                </a:solidFill>
                <a:latin typeface="Candara"/>
              </a:rPr>
              <a:t>Time, place, IP stored on dashboard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16052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qr_sc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51960"/>
            <a:ext cx="2624474" cy="164592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297680" y="416052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verifi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4251960"/>
            <a:ext cx="1527179" cy="164592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8138160" y="416052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dashboard_v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251960"/>
            <a:ext cx="1568548" cy="164592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Digital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20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Unique Security QR on Every 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Each legal paper carries a unique digital identity linked to secure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2433"/>
                </a:solidFill>
                <a:latin typeface="Candara"/>
              </a:rPr>
              <a:t>•  Unique serial + matching QR for every sheet / batch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QR linked to centralized secure database record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Every scan validates against original cloud data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Supports citizen / bank / officer authentication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Admin can generate batches and monitor scan events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02433"/>
                </a:solidFill>
                <a:latin typeface="Candara"/>
              </a:rPr>
              <a:t>•  Detects duplicate use, suspicious reuse and location anomalies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53035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nique_qr_v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0240"/>
            <a:ext cx="4937760" cy="354813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Track &amp;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21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Track &amp; Trace + Live Scan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From issue to registration to later verification — full visibility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6692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91440" cy="4160520"/>
          </a:xfrm>
          <a:prstGeom prst="rect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562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2433"/>
                </a:solidFill>
                <a:latin typeface="Candara"/>
              </a:rPr>
              <a:t>End-to-end control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194560"/>
            <a:ext cx="5303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272"/>
                </a:solidFill>
                <a:latin typeface="Candara"/>
              </a:rPr>
              <a:t>•  Generate unique serial + Security QR in secure cloud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Print / issue on Propix Mudrank legal paper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Scan at stamp / registration / bank checkpoints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Citizen or officer verifies via app / portal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E6272"/>
                </a:solidFill>
                <a:latin typeface="Candara"/>
              </a:rPr>
              <a:t>•  Admin sees Genuine / Fake / Already-used with geo +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91640"/>
            <a:ext cx="53035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shboard_v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663440" cy="48934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22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Before vs After — Control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From open stationery to barrier-based secure legal 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2743200" cy="411480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27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ndara"/>
              </a:rPr>
              <a:t>Dimension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554480"/>
            <a:ext cx="4114800" cy="411480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62763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ndara"/>
              </a:rPr>
              <a:t>Today (Plain / Green)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554480"/>
            <a:ext cx="4389120" cy="411480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62763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ndara"/>
              </a:rPr>
              <a:t>Propix Mudrank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65960"/>
            <a:ext cx="2743200" cy="6400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13055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433"/>
                </a:solidFill>
                <a:latin typeface="Candara"/>
              </a:rPr>
              <a:t>Paper strength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965960"/>
            <a:ext cx="4114800" cy="640080"/>
          </a:xfrm>
          <a:prstGeom prst="rect">
            <a:avLst/>
          </a:prstGeom>
          <a:solidFill>
            <a:srgbClr val="FB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0128" y="2130552"/>
            <a:ext cx="3895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53A2E"/>
                </a:solidFill>
                <a:latin typeface="Candara"/>
              </a:rPr>
              <a:t>Easily tearable / substitutable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965960"/>
            <a:ext cx="4389120" cy="64008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8" y="2130552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7D4F"/>
                </a:solidFill>
                <a:latin typeface="Candara"/>
              </a:rPr>
              <a:t>Non-tearable 130–140µ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0604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77063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433"/>
                </a:solidFill>
                <a:latin typeface="Candara"/>
              </a:rPr>
              <a:t>Copy resistance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606040"/>
            <a:ext cx="4114800" cy="640080"/>
          </a:xfrm>
          <a:prstGeom prst="rect">
            <a:avLst/>
          </a:prstGeom>
          <a:solidFill>
            <a:srgbClr val="FB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128" y="2770632"/>
            <a:ext cx="3895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53A2E"/>
                </a:solidFill>
                <a:latin typeface="Candara"/>
              </a:rPr>
              <a:t>Photocopy looks similar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606040"/>
            <a:ext cx="4389120" cy="64008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4928" y="2770632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7D4F"/>
                </a:solidFill>
                <a:latin typeface="Candara"/>
              </a:rPr>
              <a:t>VOID + fine-line + UV fails copy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46120"/>
            <a:ext cx="2743200" cy="6400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41071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433"/>
                </a:solidFill>
                <a:latin typeface="Candara"/>
              </a:rPr>
              <a:t>Visual auth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3246120"/>
            <a:ext cx="4114800" cy="640080"/>
          </a:xfrm>
          <a:prstGeom prst="rect">
            <a:avLst/>
          </a:prstGeom>
          <a:solidFill>
            <a:srgbClr val="FB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10128" y="3410712"/>
            <a:ext cx="3895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53A2E"/>
                </a:solidFill>
                <a:latin typeface="Candara"/>
              </a:rPr>
              <a:t>Limited cues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246120"/>
            <a:ext cx="4389120" cy="64008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4928" y="3410712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7D4F"/>
                </a:solidFill>
                <a:latin typeface="Candara"/>
              </a:rPr>
              <a:t>Hologram, foil, emboss, border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8620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05079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433"/>
                </a:solidFill>
                <a:latin typeface="Candara"/>
              </a:rPr>
              <a:t>Digital identity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3886200"/>
            <a:ext cx="4114800" cy="640080"/>
          </a:xfrm>
          <a:prstGeom prst="rect">
            <a:avLst/>
          </a:prstGeom>
          <a:solidFill>
            <a:srgbClr val="FB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10128" y="4050792"/>
            <a:ext cx="3895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53A2E"/>
                </a:solidFill>
                <a:latin typeface="Candara"/>
              </a:rPr>
              <a:t>Usually absent on sheet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3886200"/>
            <a:ext cx="4389120" cy="64008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24928" y="4050792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7D4F"/>
                </a:solidFill>
                <a:latin typeface="Candara"/>
              </a:rPr>
              <a:t>Unique QR + cloud record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526280"/>
            <a:ext cx="2743200" cy="6400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469087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433"/>
                </a:solidFill>
                <a:latin typeface="Candara"/>
              </a:rPr>
              <a:t>Traceability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4526280"/>
            <a:ext cx="4114800" cy="640080"/>
          </a:xfrm>
          <a:prstGeom prst="rect">
            <a:avLst/>
          </a:prstGeom>
          <a:solidFill>
            <a:srgbClr val="FB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10128" y="4690872"/>
            <a:ext cx="3895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53A2E"/>
                </a:solidFill>
                <a:latin typeface="Candara"/>
              </a:rPr>
              <a:t>Fragmented / manual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4526280"/>
            <a:ext cx="4389120" cy="64008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24928" y="4690872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7D4F"/>
                </a:solidFill>
                <a:latin typeface="Candara"/>
              </a:rPr>
              <a:t>Live scan Track &amp; Trace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16636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533095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2433"/>
                </a:solidFill>
                <a:latin typeface="Candara"/>
              </a:rPr>
              <a:t>Process barrier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5166360"/>
            <a:ext cx="4114800" cy="640080"/>
          </a:xfrm>
          <a:prstGeom prst="rect">
            <a:avLst/>
          </a:prstGeom>
          <a:solidFill>
            <a:srgbClr val="FB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10128" y="5330952"/>
            <a:ext cx="3895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53A2E"/>
                </a:solidFill>
                <a:latin typeface="Candara"/>
              </a:rPr>
              <a:t>Weak checkpoints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5166360"/>
            <a:ext cx="4389120" cy="64008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24928" y="5330952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7D4F"/>
                </a:solidFill>
                <a:latin typeface="Candara"/>
              </a:rPr>
              <a:t>Physical + digital barriers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PRAKRUTI GRAPHIC / PROPIX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B0C0"/>
                </a:solidFill>
                <a:latin typeface="Candara"/>
              </a:rPr>
              <a:t>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D7E2"/>
                </a:solidFill>
                <a:latin typeface="Candara"/>
              </a:rPr>
              <a:t>23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2433"/>
                </a:solidFill>
                <a:latin typeface="Georgia"/>
              </a:rPr>
              <a:t>Who Gains — and 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272"/>
                </a:solidFill>
                <a:latin typeface="Candara"/>
              </a:rPr>
              <a:t>One secure paper system serving government, citizens and finance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73736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37360"/>
            <a:ext cx="2788920" cy="640080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874519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ndara"/>
              </a:rPr>
              <a:t>State / IGR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433"/>
                </a:solidFill>
                <a:latin typeface="Candara"/>
              </a:rPr>
              <a:t>•  Higher forgery resistance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02433"/>
                </a:solidFill>
                <a:latin typeface="Candara"/>
              </a:rPr>
              <a:t>•  Better process control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02433"/>
                </a:solidFill>
                <a:latin typeface="Candara"/>
              </a:rPr>
              <a:t>•  Revenue &amp; record integrity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73736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737360"/>
            <a:ext cx="2788920" cy="640080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874519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ndara"/>
              </a:rPr>
              <a:t>Sub-Registrar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65176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433"/>
                </a:solidFill>
                <a:latin typeface="Candara"/>
              </a:rPr>
              <a:t>•  Faster authenticity cues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02433"/>
                </a:solidFill>
                <a:latin typeface="Candara"/>
              </a:rPr>
              <a:t>•  UV / emboss / QR checks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02433"/>
                </a:solidFill>
                <a:latin typeface="Candara"/>
              </a:rPr>
              <a:t>•  Lower dispute friction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73736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737360"/>
            <a:ext cx="2788920" cy="640080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874519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ndara"/>
              </a:rPr>
              <a:t>Citizens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5176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433"/>
                </a:solidFill>
                <a:latin typeface="Candara"/>
              </a:rPr>
              <a:t>•  Harder to fake deeds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02433"/>
                </a:solidFill>
                <a:latin typeface="Candara"/>
              </a:rPr>
              <a:t>•  Scan-to-verify confidence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02433"/>
                </a:solidFill>
                <a:latin typeface="Candara"/>
              </a:rPr>
              <a:t>•  Safer property transfers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73736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737360"/>
            <a:ext cx="2788920" cy="640080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874519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ndara"/>
              </a:rPr>
              <a:t>Banks / NBFCs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65176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2433"/>
                </a:solidFill>
                <a:latin typeface="Candara"/>
              </a:rPr>
              <a:t>•  Instant sheet verification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02433"/>
                </a:solidFill>
                <a:latin typeface="Candara"/>
              </a:rPr>
              <a:t>•  Lower title-document risk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02433"/>
                </a:solidFill>
                <a:latin typeface="Candara"/>
              </a:rPr>
              <a:t>•  Cleaner onboarding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E6272"/>
                </a:solidFill>
                <a:latin typeface="Candara"/>
              </a:rPr>
              <a:t>Secure Legal Paper  |  Physical + Digital  |  Track &amp; Trace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E6272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0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Secure the Paper. Control the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5D5E2"/>
                </a:solidFill>
                <a:latin typeface="Candara"/>
              </a:rPr>
              <a:t>Propix Mudrank combines non-tearable physical security with QR-based digital traceability
for Maharashtra Registration &amp; Stamps documentation.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0C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ndara"/>
              </a:rPr>
              <a:t>Stop easy duplication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10896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0C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ndara"/>
              </a:rPr>
              <a:t>Add real barriers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0896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0C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ndara"/>
              </a:rPr>
              <a:t>Combine physical + digital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310896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0C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ndara"/>
              </a:rPr>
              <a:t>Enable track &amp; 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06A2B"/>
                </a:solidFill>
                <a:latin typeface="Candara"/>
              </a:rPr>
              <a:t>Next step: Pilot deployment / sample evaluation with IGR Maharashtra</a:t>
            </a:r>
          </a:p>
          <a:p>
            <a:pPr algn="ctr">
              <a:spcBef>
                <a:spcPts val="1200"/>
              </a:spcBef>
            </a:pPr>
            <a:r>
              <a:rPr sz="1400" b="0">
                <a:solidFill>
                  <a:srgbClr val="8FA8BA"/>
                </a:solidFill>
                <a:latin typeface="Candara"/>
              </a:rPr>
              <a:t>prakruti@prakrutigraphic.com  ·  +91 98212 32349  ·  www.pgpltechprint.com</a:t>
            </a:r>
          </a:p>
          <a:p>
            <a:pPr algn="ctr">
              <a:spcBef>
                <a:spcPts val="1800"/>
              </a:spcBef>
            </a:pPr>
            <a:r>
              <a:rPr sz="2000" b="1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