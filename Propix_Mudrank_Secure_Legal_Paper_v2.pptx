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7" r:id="rId20"/>
    <p:sldId id="278" r:id="rId21"/>
    <p:sldId id="279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7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7" Type="http://schemas.openxmlformats.org/officeDocument/2006/relationships/image" Target="../media/image11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g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9224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92240" y="0"/>
            <a:ext cx="5699455" cy="6858000"/>
          </a:xfrm>
          <a:prstGeom prst="rect">
            <a:avLst/>
          </a:prstGeom>
          <a:solidFill>
            <a:srgbClr val="E8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502920"/>
            <a:ext cx="3931920" cy="347472"/>
          </a:xfrm>
          <a:prstGeom prst="roundRect">
            <a:avLst>
              <a:gd name="adj" fmla="val 8000"/>
            </a:avLst>
          </a:prstGeom>
          <a:solidFill>
            <a:srgbClr val="F7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557784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45E24"/>
                </a:solidFill>
                <a:latin typeface="Candara"/>
              </a:rPr>
              <a:t>MAHARASHTRA  ·  REGISTRATION &amp; STAMPS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4300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A6B78"/>
                </a:solidFill>
                <a:latin typeface="Candara"/>
              </a:rPr>
              <a:t>PRAKRUTI GRAPHIC PVT. LTD.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00200"/>
            <a:ext cx="5669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22B3C"/>
                </a:solidFill>
                <a:latin typeface="Georgia"/>
              </a:rPr>
              <a:t>Secure Legal Paper</a:t>
            </a:r>
          </a:p>
          <a:p>
            <a:pPr algn="l">
              <a:spcBef>
                <a:spcPts val="400"/>
              </a:spcBef>
            </a:pPr>
            <a:r>
              <a:rPr sz="2800" b="1">
                <a:solidFill>
                  <a:srgbClr val="122B3C"/>
                </a:solidFill>
                <a:latin typeface="Georgia"/>
              </a:rPr>
              <a:t>for Property Registration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108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45E24"/>
                </a:solidFill>
                <a:latin typeface="Candara"/>
              </a:rPr>
              <a:t>Safe paper  +  QR check  +  easy tracking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3776472"/>
            <a:ext cx="128016" cy="128016"/>
          </a:xfrm>
          <a:prstGeom prst="ellipse">
            <a:avLst/>
          </a:prstGeom>
          <a:solidFill>
            <a:srgbClr val="C45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370332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36"/>
                </a:solidFill>
                <a:latin typeface="Candara"/>
              </a:rPr>
              <a:t>Strong paper that does not tear easily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4142232"/>
            <a:ext cx="128016" cy="128016"/>
          </a:xfrm>
          <a:prstGeom prst="ellipse">
            <a:avLst/>
          </a:prstGeom>
          <a:solidFill>
            <a:srgbClr val="C45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406908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36"/>
                </a:solidFill>
                <a:latin typeface="Candara"/>
              </a:rPr>
              <a:t>Hidden marks, hologram, foil and raised print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4507992"/>
            <a:ext cx="128016" cy="128016"/>
          </a:xfrm>
          <a:prstGeom prst="ellipse">
            <a:avLst/>
          </a:prstGeom>
          <a:solidFill>
            <a:srgbClr val="C45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443484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36"/>
                </a:solidFill>
                <a:latin typeface="Candara"/>
              </a:rPr>
              <a:t>Scan QR to check if paper is real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4873752"/>
            <a:ext cx="128016" cy="128016"/>
          </a:xfrm>
          <a:prstGeom prst="ellipse">
            <a:avLst/>
          </a:prstGeom>
          <a:solidFill>
            <a:srgbClr val="C45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480060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36"/>
                </a:solidFill>
                <a:latin typeface="Candara"/>
              </a:rPr>
              <a:t>Made for property registration documents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03720" y="411480"/>
            <a:ext cx="4800600" cy="5989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cover_pap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594360"/>
            <a:ext cx="3866198" cy="56235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02920" y="626364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8"/>
                </a:solidFill>
                <a:latin typeface="Candara"/>
              </a:rPr>
              <a:t>prakruti@prakrutigraphic.com  ·  +91 98212 32349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30352"/>
            <a:ext cx="12191695" cy="32004"/>
          </a:xfrm>
          <a:prstGeom prst="rect">
            <a:avLst/>
          </a:prstGeom>
          <a:solidFill>
            <a:srgbClr val="C45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2801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22B3C"/>
                </a:solidFill>
                <a:latin typeface="Candara"/>
              </a:rPr>
              <a:t>PRAKRUTI GRAPHIC PVT. LTD.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2801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B78"/>
                </a:solidFill>
                <a:latin typeface="Candara"/>
              </a:rPr>
              <a:t>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2801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A6B78"/>
                </a:solidFill>
                <a:latin typeface="Candara"/>
              </a:rPr>
              <a:t>2  / 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B36"/>
                </a:solidFill>
                <a:latin typeface="Georgia"/>
              </a:rPr>
              <a:t>What's Inside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7043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B78"/>
                </a:solidFill>
                <a:latin typeface="Candara"/>
              </a:rPr>
              <a:t>Problem → Facts → Product → Features → Digital Check → Result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37360"/>
            <a:ext cx="361188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011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45E24"/>
                </a:solidFill>
                <a:latin typeface="Georgia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4688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B36"/>
                </a:solidFill>
                <a:latin typeface="Candara"/>
              </a:rPr>
              <a:t>The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8346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B78"/>
                </a:solidFill>
                <a:latin typeface="Candara"/>
              </a:rPr>
              <a:t>Fraud, fake papers and weak checks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1737360"/>
            <a:ext cx="361188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80560" y="2011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45E24"/>
                </a:solidFill>
                <a:latin typeface="Georgia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4688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B36"/>
                </a:solidFill>
                <a:latin typeface="Candara"/>
              </a:rPr>
              <a:t>Maharashtra Facts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8346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B78"/>
                </a:solidFill>
                <a:latin typeface="Candara"/>
              </a:rPr>
              <a:t>Big money + recent fraud cases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737360"/>
            <a:ext cx="361188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75320" y="2011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45E24"/>
                </a:solidFill>
                <a:latin typeface="Georgia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4688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B36"/>
                </a:solidFill>
                <a:latin typeface="Candara"/>
              </a:rPr>
              <a:t>Our Secure Paper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8346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B78"/>
                </a:solidFill>
                <a:latin typeface="Candara"/>
              </a:rPr>
              <a:t>Strong paper with many safety marks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749040"/>
            <a:ext cx="361188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4023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45E24"/>
                </a:solidFill>
                <a:latin typeface="Georgia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4805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B36"/>
                </a:solidFill>
                <a:latin typeface="Candara"/>
              </a:rPr>
              <a:t>Paper Features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846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B78"/>
                </a:solidFill>
                <a:latin typeface="Candara"/>
              </a:rPr>
              <a:t>Step-by-step safety layers on paper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51960" y="3749040"/>
            <a:ext cx="361188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80560" y="4023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45E24"/>
                </a:solidFill>
                <a:latin typeface="Georgia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44805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B36"/>
                </a:solidFill>
                <a:latin typeface="Candara"/>
              </a:rPr>
              <a:t>QR &amp; Tracking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4846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B78"/>
                </a:solidFill>
                <a:latin typeface="Candara"/>
              </a:rPr>
              <a:t>Scan, check and follow each paper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3749040"/>
            <a:ext cx="361188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75320" y="4023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45E24"/>
                </a:solidFill>
                <a:latin typeface="Georgia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44805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B36"/>
                </a:solidFill>
                <a:latin typeface="Candara"/>
              </a:rPr>
              <a:t>Final Benefit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4846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B78"/>
                </a:solidFill>
                <a:latin typeface="Candara"/>
              </a:rPr>
              <a:t>More control, more trust, less loss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6446520"/>
            <a:ext cx="11338560" cy="13716"/>
          </a:xfrm>
          <a:prstGeom prst="rect">
            <a:avLst/>
          </a:prstGeom>
          <a:solidFill>
            <a:srgbClr val="DE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11480" y="65105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B78"/>
                </a:solidFill>
                <a:latin typeface="Candara"/>
              </a:rPr>
              <a:t>Secure Legal Paper  |  Paper Security + QR Check + Tracking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6510528"/>
            <a:ext cx="3977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A6B78"/>
                </a:solidFill>
                <a:latin typeface="Candara"/>
              </a:rPr>
              <a:t>Confidential  ·  www.pgpltechprint.com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30352"/>
            <a:ext cx="12191695" cy="32004"/>
          </a:xfrm>
          <a:prstGeom prst="rect">
            <a:avLst/>
          </a:prstGeom>
          <a:solidFill>
            <a:srgbClr val="C45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2801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22B3C"/>
                </a:solidFill>
                <a:latin typeface="Candara"/>
              </a:rPr>
              <a:t>PRAKRUTI GRAPHIC PVT. LTD.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2801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B78"/>
                </a:solidFill>
                <a:latin typeface="Candara"/>
              </a:rPr>
              <a:t>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2801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A6B78"/>
                </a:solidFill>
                <a:latin typeface="Candara"/>
              </a:rPr>
              <a:t>3  / 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B36"/>
                </a:solidFill>
                <a:latin typeface="Georgia"/>
              </a:rPr>
              <a:t>Why Do We Need Secure Legal Paper Now?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7043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B78"/>
                </a:solidFill>
                <a:latin typeface="Candara"/>
              </a:rPr>
              <a:t>Property papers handle big money — fake papers cause big loss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91640"/>
            <a:ext cx="356616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9202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C45E24"/>
                </a:solidFill>
                <a:latin typeface="Georgia"/>
              </a:rPr>
              <a:t>₹59,150 Cr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4688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6B78"/>
                </a:solidFill>
                <a:latin typeface="Candara"/>
              </a:rPr>
              <a:t>Stamp &amp; registration money
collected in FY 2024–25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691640"/>
            <a:ext cx="356616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34840" y="19202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C45E24"/>
                </a:solidFill>
                <a:latin typeface="Georgia"/>
              </a:rPr>
              <a:t>13.4 Lakh+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4688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6B78"/>
                </a:solidFill>
                <a:latin typeface="Candara"/>
              </a:rPr>
              <a:t>Property documents
registered in one year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691640"/>
            <a:ext cx="356616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75320" y="19202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C45E24"/>
                </a:solidFill>
                <a:latin typeface="Georgia"/>
              </a:rPr>
              <a:t>₹10–20k Cr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4688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6B78"/>
                </a:solidFill>
                <a:latin typeface="Candara"/>
              </a:rPr>
              <a:t>Possible loss under
state-level fraud probe*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429000"/>
            <a:ext cx="5486400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3429000"/>
            <a:ext cx="91440" cy="2606040"/>
          </a:xfrm>
          <a:prstGeom prst="rect">
            <a:avLst/>
          </a:prstGeom>
          <a:solidFill>
            <a:srgbClr val="C45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3232" y="359359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B36"/>
                </a:solidFill>
                <a:latin typeface="Candara"/>
              </a:rPr>
              <a:t>What is at 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3931920"/>
            <a:ext cx="51206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8"/>
                </a:solidFill>
                <a:latin typeface="Candara"/>
              </a:rPr>
              <a:t>•  Property papers prove who owns the land or house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5A6B78"/>
                </a:solidFill>
                <a:latin typeface="Candara"/>
              </a:rPr>
              <a:t>•  Banks also depend on these papers for loans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5A6B78"/>
                </a:solidFill>
                <a:latin typeface="Candara"/>
              </a:rPr>
              <a:t>•  Fake papers can cheat buyers and the government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5A6B78"/>
                </a:solidFill>
                <a:latin typeface="Candara"/>
              </a:rPr>
              <a:t>•  State needs stronger paper to protect public money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429000"/>
            <a:ext cx="5486400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17920" y="3429000"/>
            <a:ext cx="91440" cy="2606040"/>
          </a:xfrm>
          <a:prstGeom prst="rect">
            <a:avLst/>
          </a:prstGeom>
          <a:solidFill>
            <a:srgbClr val="B5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73952" y="359359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B36"/>
                </a:solidFill>
                <a:latin typeface="Candara"/>
              </a:rPr>
              <a:t>Problem with today's paper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2" y="3931920"/>
            <a:ext cx="51206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8"/>
                </a:solidFill>
                <a:latin typeface="Candara"/>
              </a:rPr>
              <a:t>•  Mostly simple green / plain legal paper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5A6B78"/>
                </a:solidFill>
                <a:latin typeface="Candara"/>
              </a:rPr>
              <a:t>•  Easy to copy, tear, or make a fake look real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5A6B78"/>
                </a:solidFill>
                <a:latin typeface="Candara"/>
              </a:rPr>
              <a:t>•  No easy way to scan and confirm it is original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5A6B78"/>
                </a:solidFill>
                <a:latin typeface="Candara"/>
              </a:rPr>
              <a:t>•  Weak safety checks in the full process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6446520"/>
            <a:ext cx="11338560" cy="13716"/>
          </a:xfrm>
          <a:prstGeom prst="rect">
            <a:avLst/>
          </a:prstGeom>
          <a:solidFill>
            <a:srgbClr val="DE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1480" y="65105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B78"/>
                </a:solidFill>
                <a:latin typeface="Candara"/>
              </a:rPr>
              <a:t>Secure Legal Paper  |  Paper Security + QR Check + Tracking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6510528"/>
            <a:ext cx="3977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A6B78"/>
                </a:solidFill>
                <a:latin typeface="Candara"/>
              </a:rPr>
              <a:t>Confidential  ·  www.pgpltechprint.com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1264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B78"/>
                </a:solidFill>
                <a:latin typeface="Candara"/>
              </a:rPr>
              <a:t>*Sources: CAG report, IGR Maharashtra, news reports on stamp duty probe.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30352"/>
            <a:ext cx="12191695" cy="32004"/>
          </a:xfrm>
          <a:prstGeom prst="rect">
            <a:avLst/>
          </a:prstGeom>
          <a:solidFill>
            <a:srgbClr val="C45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2801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22B3C"/>
                </a:solidFill>
                <a:latin typeface="Candara"/>
              </a:rPr>
              <a:t>PRAKRUTI GRAPHIC PVT. LTD.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2801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B78"/>
                </a:solidFill>
                <a:latin typeface="Candara"/>
              </a:rP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2801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A6B78"/>
                </a:solidFill>
                <a:latin typeface="Candara"/>
              </a:rPr>
              <a:t>4  / 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B36"/>
                </a:solidFill>
                <a:latin typeface="Georgia"/>
              </a:rPr>
              <a:t>Five Big Problems in Documents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7043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B78"/>
                </a:solidFill>
                <a:latin typeface="Candara"/>
              </a:rPr>
              <a:t>These gaps make fraud and fake papers easier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00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40080" y="1783080"/>
            <a:ext cx="411480" cy="411480"/>
          </a:xfrm>
          <a:prstGeom prst="ellipse">
            <a:avLst/>
          </a:prstGeom>
          <a:solidFill>
            <a:srgbClr val="B5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185623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ndar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73736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B36"/>
                </a:solidFill>
                <a:latin typeface="Candara"/>
              </a:rPr>
              <a:t>Fraud in the past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01168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B78"/>
                </a:solidFill>
                <a:latin typeface="Candara"/>
              </a:rPr>
              <a:t>Fake registration and wrong process cases found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46888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40080" y="2651760"/>
            <a:ext cx="411480" cy="411480"/>
          </a:xfrm>
          <a:prstGeom prst="ellipse">
            <a:avLst/>
          </a:prstGeom>
          <a:solidFill>
            <a:srgbClr val="B5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272491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ndar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60604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B36"/>
                </a:solidFill>
                <a:latin typeface="Candara"/>
              </a:rPr>
              <a:t>Same paper copied again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288036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B78"/>
                </a:solidFill>
                <a:latin typeface="Candara"/>
              </a:rPr>
              <a:t>Fake sale deeds, fake seals, double selling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33756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40080" y="3520440"/>
            <a:ext cx="411480" cy="411480"/>
          </a:xfrm>
          <a:prstGeom prst="ellipse">
            <a:avLst/>
          </a:prstGeom>
          <a:solidFill>
            <a:srgbClr val="C45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359359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ndar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347472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B36"/>
                </a:solidFill>
                <a:latin typeface="Candara"/>
              </a:rPr>
              <a:t>No strong checks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374904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B78"/>
                </a:solidFill>
                <a:latin typeface="Candara"/>
              </a:rPr>
              <a:t>No QR / safety marks at every step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20624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40080" y="4389120"/>
            <a:ext cx="411480" cy="411480"/>
          </a:xfrm>
          <a:prstGeom prst="ellipse">
            <a:avLst/>
          </a:prstGeom>
          <a:solidFill>
            <a:srgbClr val="1F6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" y="446227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ndara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434340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B36"/>
                </a:solidFill>
                <a:latin typeface="Candara"/>
              </a:rPr>
              <a:t>Paper and digital not joined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461772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B78"/>
                </a:solidFill>
                <a:latin typeface="Candara"/>
              </a:rPr>
              <a:t>Online systems and paper safety stay separate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07492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40080" y="5257800"/>
            <a:ext cx="411480" cy="411480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533095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ndar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521208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B36"/>
                </a:solidFill>
                <a:latin typeface="Candara"/>
              </a:rPr>
              <a:t>Need easy tracking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548640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B78"/>
                </a:solidFill>
                <a:latin typeface="Candara"/>
              </a:rPr>
              <a:t>Anyone should quickly check if paper is real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6446520"/>
            <a:ext cx="11338560" cy="13716"/>
          </a:xfrm>
          <a:prstGeom prst="rect">
            <a:avLst/>
          </a:prstGeom>
          <a:solidFill>
            <a:srgbClr val="DE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11480" y="65105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B78"/>
                </a:solidFill>
                <a:latin typeface="Candara"/>
              </a:rPr>
              <a:t>Secure Legal Paper  |  Paper Security + QR Check + Tracking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6510528"/>
            <a:ext cx="3977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A6B78"/>
                </a:solidFill>
                <a:latin typeface="Candara"/>
              </a:rPr>
              <a:t>Confidential  ·  www.pgpltechprint.com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30352"/>
            <a:ext cx="12191695" cy="32004"/>
          </a:xfrm>
          <a:prstGeom prst="rect">
            <a:avLst/>
          </a:prstGeom>
          <a:solidFill>
            <a:srgbClr val="C45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2801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22B3C"/>
                </a:solidFill>
                <a:latin typeface="Candara"/>
              </a:rPr>
              <a:t>PRAKRUTI GRAPHIC PVT. LTD.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2801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B78"/>
                </a:solidFill>
                <a:latin typeface="Candara"/>
              </a:rPr>
              <a:t>Problem 01 · Fraud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2801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A6B78"/>
                </a:solidFill>
                <a:latin typeface="Candara"/>
              </a:rPr>
              <a:t>5  / 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B36"/>
                </a:solidFill>
                <a:latin typeface="Georgia"/>
              </a:rPr>
              <a:t>Fraud Found in Past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7043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B78"/>
                </a:solidFill>
                <a:latin typeface="Candara"/>
              </a:rPr>
              <a:t>Recent Maharashtra cases show how weak checks can cause big loss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45920"/>
            <a:ext cx="557784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645920"/>
            <a:ext cx="109728" cy="1965960"/>
          </a:xfrm>
          <a:prstGeom prst="rect">
            <a:avLst/>
          </a:prstGeom>
          <a:solidFill>
            <a:srgbClr val="B5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18288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A6B78"/>
                </a:solidFill>
                <a:latin typeface="Candara"/>
              </a:rPr>
              <a:t>Navi Mumbai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B53A2E"/>
                </a:solidFill>
                <a:latin typeface="Georgia"/>
              </a:rPr>
              <a:t>₹13.91 Cr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60604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36"/>
                </a:solidFill>
                <a:latin typeface="Candara"/>
              </a:rPr>
              <a:t>Many property papers of illegal buildings were registered with less stamp duty. Case filed against officers and agents.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645920"/>
            <a:ext cx="557784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63640" y="1645920"/>
            <a:ext cx="109728" cy="1965960"/>
          </a:xfrm>
          <a:prstGeom prst="rect">
            <a:avLst/>
          </a:prstGeom>
          <a:solidFill>
            <a:srgbClr val="B5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0" y="18288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A6B78"/>
                </a:solidFill>
                <a:latin typeface="Candara"/>
              </a:rPr>
              <a:t>Full State Check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B53A2E"/>
                </a:solidFill>
                <a:latin typeface="Georgia"/>
              </a:rPr>
              <a:t>₹10–20k Cr*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60604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36"/>
                </a:solidFill>
                <a:latin typeface="Candara"/>
              </a:rPr>
              <a:t>Government ordered a big check on stamp duty cases from 2021 to 2026 after fraud reports.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794760"/>
            <a:ext cx="557784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3794760"/>
            <a:ext cx="109728" cy="1965960"/>
          </a:xfrm>
          <a:prstGeom prst="rect">
            <a:avLst/>
          </a:prstGeom>
          <a:solidFill>
            <a:srgbClr val="B5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3977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A6B78"/>
                </a:solidFill>
                <a:latin typeface="Candara"/>
              </a:rPr>
              <a:t>Marathwada Cases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251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B53A2E"/>
                </a:solidFill>
                <a:latin typeface="Georgia"/>
              </a:rPr>
              <a:t>16+ cases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75488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36"/>
                </a:solidFill>
                <a:latin typeface="Candara"/>
              </a:rPr>
              <a:t>Fake ownership papers, fake inheritance papers, and double selling. Even AI-made fake papers reported.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3794760"/>
            <a:ext cx="557784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63640" y="3794760"/>
            <a:ext cx="109728" cy="1965960"/>
          </a:xfrm>
          <a:prstGeom prst="rect">
            <a:avLst/>
          </a:prstGeom>
          <a:solidFill>
            <a:srgbClr val="B5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80" y="3977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A6B78"/>
                </a:solidFill>
                <a:latin typeface="Candara"/>
              </a:rPr>
              <a:t>Satara Land Case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251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B53A2E"/>
                </a:solidFill>
                <a:latin typeface="Georgia"/>
              </a:rPr>
              <a:t>Fake seals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75488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36"/>
                </a:solidFill>
                <a:latin typeface="Candara"/>
              </a:rPr>
              <a:t>Fake sale deed and fake office seals used. Registration number was not found in real records.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6446520"/>
            <a:ext cx="11338560" cy="13716"/>
          </a:xfrm>
          <a:prstGeom prst="rect">
            <a:avLst/>
          </a:prstGeom>
          <a:solidFill>
            <a:srgbClr val="DE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11480" y="65105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B78"/>
                </a:solidFill>
                <a:latin typeface="Candara"/>
              </a:rPr>
              <a:t>Secure Legal Paper  |  Paper Security + QR Check + Tracking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6510528"/>
            <a:ext cx="3977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A6B78"/>
                </a:solidFill>
                <a:latin typeface="Candara"/>
              </a:rPr>
              <a:t>Confidential  ·  www.pgpltechprint.com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30352"/>
            <a:ext cx="12191695" cy="32004"/>
          </a:xfrm>
          <a:prstGeom prst="rect">
            <a:avLst/>
          </a:prstGeom>
          <a:solidFill>
            <a:srgbClr val="C45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2801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22B3C"/>
                </a:solidFill>
                <a:latin typeface="Candara"/>
              </a:rPr>
              <a:t>PRAKRUTI GRAPHIC PVT. LTD.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2801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B78"/>
                </a:solidFill>
                <a:latin typeface="Candara"/>
              </a:rPr>
              <a:t>Problem 02 · Copying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2801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A6B78"/>
                </a:solidFill>
                <a:latin typeface="Candara"/>
              </a:rPr>
              <a:t>6  / 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B36"/>
                </a:solidFill>
                <a:latin typeface="Georgia"/>
              </a:rPr>
              <a:t>Document Copying Found in Past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7043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B78"/>
                </a:solidFill>
                <a:latin typeface="Candara"/>
              </a:rPr>
              <a:t>When paper is easy to copy, fake papers look almost real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91640"/>
            <a:ext cx="548640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691640"/>
            <a:ext cx="91440" cy="4023360"/>
          </a:xfrm>
          <a:prstGeom prst="rect">
            <a:avLst/>
          </a:prstGeom>
          <a:solidFill>
            <a:srgbClr val="B5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" y="185623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B36"/>
                </a:solidFill>
                <a:latin typeface="Candara"/>
              </a:rPr>
              <a:t>What police / officers keep finding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194560"/>
            <a:ext cx="5120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8"/>
                </a:solidFill>
                <a:latin typeface="Candara"/>
              </a:rPr>
              <a:t>•  Fake sale deeds used to transfer property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5A6B78"/>
                </a:solidFill>
                <a:latin typeface="Candara"/>
              </a:rPr>
              <a:t>•  Fake office seals and fake signatures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5A6B78"/>
                </a:solidFill>
                <a:latin typeface="Candara"/>
              </a:rPr>
              <a:t>•  Same property sold more than once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5A6B78"/>
                </a:solidFill>
                <a:latin typeface="Candara"/>
              </a:rPr>
              <a:t>•  Fake ownership / inheritance papers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5A6B78"/>
                </a:solidFill>
                <a:latin typeface="Candara"/>
              </a:rPr>
              <a:t>•  Computer-made fake papers also found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691640"/>
            <a:ext cx="548640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691640"/>
            <a:ext cx="91440" cy="4023360"/>
          </a:xfrm>
          <a:prstGeom prst="rect">
            <a:avLst/>
          </a:prstGeom>
          <a:solidFill>
            <a:srgbClr val="C45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73952" y="185623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B36"/>
                </a:solidFill>
                <a:latin typeface="Candara"/>
              </a:rPr>
              <a:t>Why plain green paper fails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194560"/>
            <a:ext cx="5120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8"/>
                </a:solidFill>
                <a:latin typeface="Candara"/>
              </a:rPr>
              <a:t>•  Simple paper copies can look good enough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5A6B78"/>
                </a:solidFill>
                <a:latin typeface="Candara"/>
              </a:rPr>
              <a:t>•  No clear 'FAKE COPY' mark on photocopy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5A6B78"/>
                </a:solidFill>
                <a:latin typeface="Candara"/>
              </a:rPr>
              <a:t>•  Hard for officers to feel or see the difference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5A6B78"/>
                </a:solidFill>
                <a:latin typeface="Candara"/>
              </a:rPr>
              <a:t>•  Buyers and banks cannot check quickly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5A6B78"/>
                </a:solidFill>
                <a:latin typeface="Candara"/>
              </a:rPr>
              <a:t>•  Each paper has no unique digital ID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6446520"/>
            <a:ext cx="11338560" cy="13716"/>
          </a:xfrm>
          <a:prstGeom prst="rect">
            <a:avLst/>
          </a:prstGeom>
          <a:solidFill>
            <a:srgbClr val="DE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65105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B78"/>
                </a:solidFill>
                <a:latin typeface="Candara"/>
              </a:rPr>
              <a:t>Secure Legal Paper  |  Paper Security + QR Check + Tracking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510528"/>
            <a:ext cx="3977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A6B78"/>
                </a:solidFill>
                <a:latin typeface="Candara"/>
              </a:rPr>
              <a:t>Confidential  ·  www.pgpltechprint.com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30352"/>
            <a:ext cx="12191695" cy="32004"/>
          </a:xfrm>
          <a:prstGeom prst="rect">
            <a:avLst/>
          </a:prstGeom>
          <a:solidFill>
            <a:srgbClr val="C45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2801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22B3C"/>
                </a:solidFill>
                <a:latin typeface="Candara"/>
              </a:rPr>
              <a:t>PRAKRUTI GRAPHIC PVT. LTD.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2801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B78"/>
                </a:solidFill>
                <a:latin typeface="Candara"/>
              </a:rPr>
              <a:t>Problem 03 · No Checks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2801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A6B78"/>
                </a:solidFill>
                <a:latin typeface="Candara"/>
              </a:rPr>
              <a:t>7  / 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B36"/>
                </a:solidFill>
                <a:latin typeface="Georgia"/>
              </a:rPr>
              <a:t>No Strong Control on the Process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7043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B78"/>
                </a:solidFill>
                <a:latin typeface="Candara"/>
              </a:rPr>
              <a:t>Because safety checks are missing from start to 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783080"/>
            <a:ext cx="21488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196596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2B36"/>
                </a:solidFill>
                <a:latin typeface="Candara"/>
              </a:rPr>
              <a:t>1. Draft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37744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B78"/>
                </a:solidFill>
                <a:latin typeface="Candara"/>
              </a:rPr>
              <a:t>Paper written
on plain sheet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23317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C45E24"/>
                </a:solidFill>
                <a:latin typeface="Candara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1783080"/>
            <a:ext cx="21488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34640" y="196596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2B36"/>
                </a:solidFill>
                <a:latin typeface="Candara"/>
              </a:rPr>
              <a:t>2. Stamp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237744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B78"/>
                </a:solidFill>
                <a:latin typeface="Candara"/>
              </a:rPr>
              <a:t>Stamp duty
paid / paper given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3317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C45E24"/>
                </a:solidFill>
                <a:latin typeface="Candara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74920" y="1783080"/>
            <a:ext cx="21488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66360" y="196596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2B36"/>
                </a:solidFill>
                <a:latin typeface="Candara"/>
              </a:rPr>
              <a:t>3. Register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237744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B78"/>
                </a:solidFill>
                <a:latin typeface="Candara"/>
              </a:rPr>
              <a:t>Office signs
the document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23317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C45E24"/>
                </a:solidFill>
                <a:latin typeface="Candara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06640" y="1783080"/>
            <a:ext cx="21488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98080" y="196596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2B36"/>
                </a:solidFill>
                <a:latin typeface="Candara"/>
              </a:rPr>
              <a:t>4. Record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0" y="237744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B78"/>
                </a:solidFill>
                <a:latin typeface="Candara"/>
              </a:rPr>
              <a:t>Land record
gets updated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23317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C45E24"/>
                </a:solidFill>
                <a:latin typeface="Candara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38360" y="1783080"/>
            <a:ext cx="21488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829800" y="196596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2B36"/>
                </a:solidFill>
                <a:latin typeface="Candara"/>
              </a:rPr>
              <a:t>5. Bank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237744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B78"/>
                </a:solidFill>
                <a:latin typeface="Candara"/>
              </a:rPr>
              <a:t>Bank / buyer
checks paper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657600"/>
            <a:ext cx="1124712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57200" y="3657600"/>
            <a:ext cx="11247120" cy="73152"/>
          </a:xfrm>
          <a:prstGeom prst="rect">
            <a:avLst/>
          </a:prstGeom>
          <a:solidFill>
            <a:srgbClr val="B5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20" y="3886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B53A2E"/>
                </a:solidFill>
                <a:latin typeface="Candara"/>
              </a:rPr>
              <a:t>Gap today: process is open — safety locks are missing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3434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36"/>
                </a:solidFill>
                <a:latin typeface="Candara"/>
              </a:rPr>
              <a:t>•  No strong secure paper on every important sheet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A2B36"/>
                </a:solidFill>
                <a:latin typeface="Candara"/>
              </a:rPr>
              <a:t>•  No unique QR linked to each paper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A2B36"/>
                </a:solidFill>
                <a:latin typeface="Candara"/>
              </a:rPr>
              <a:t>•  No quick Real / Fake check for officers and banks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A2B36"/>
                </a:solidFill>
                <a:latin typeface="Candara"/>
              </a:rPr>
              <a:t>•  No live record of who scanned the paper and where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6446520"/>
            <a:ext cx="11338560" cy="13716"/>
          </a:xfrm>
          <a:prstGeom prst="rect">
            <a:avLst/>
          </a:prstGeom>
          <a:solidFill>
            <a:srgbClr val="DE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11480" y="65105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B78"/>
                </a:solidFill>
                <a:latin typeface="Candara"/>
              </a:rPr>
              <a:t>Secure Legal Paper  |  Paper Security + QR Check + Tracking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6510528"/>
            <a:ext cx="3977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A6B78"/>
                </a:solidFill>
                <a:latin typeface="Candara"/>
              </a:rPr>
              <a:t>Confidential  ·  www.pgpltechprint.com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30352"/>
            <a:ext cx="12191695" cy="32004"/>
          </a:xfrm>
          <a:prstGeom prst="rect">
            <a:avLst/>
          </a:prstGeom>
          <a:solidFill>
            <a:srgbClr val="C45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2801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22B3C"/>
                </a:solidFill>
                <a:latin typeface="Candara"/>
              </a:rPr>
              <a:t>PRAKRUTI GRAPHIC PVT. LTD.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2801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B78"/>
                </a:solidFill>
                <a:latin typeface="Candara"/>
              </a:rPr>
              <a:t>Facts &amp; Numbers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2801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A6B78"/>
                </a:solidFill>
                <a:latin typeface="Candara"/>
              </a:rPr>
              <a:t>8  / 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B36"/>
                </a:solidFill>
                <a:latin typeface="Georgia"/>
              </a:rPr>
              <a:t>Maharashtra Stamp &amp; Registration Money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7043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B78"/>
                </a:solidFill>
                <a:latin typeface="Candara"/>
              </a:rPr>
              <a:t>A very big system — needs very strong paper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00200"/>
            <a:ext cx="676656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737360"/>
            <a:ext cx="6309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B36"/>
                </a:solidFill>
                <a:latin typeface="Candara"/>
              </a:rPr>
              <a:t>Money collected from stamp &amp; registration (₹ Crore)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2103120"/>
            <a:ext cx="5943600" cy="12700"/>
          </a:xfrm>
          <a:prstGeom prst="rect">
            <a:avLst/>
          </a:prstGeom>
          <a:solidFill>
            <a:srgbClr val="DE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60120" y="3230880"/>
            <a:ext cx="5943600" cy="12700"/>
          </a:xfrm>
          <a:prstGeom prst="rect">
            <a:avLst/>
          </a:prstGeom>
          <a:solidFill>
            <a:srgbClr val="DE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60120" y="4358640"/>
            <a:ext cx="5943600" cy="12700"/>
          </a:xfrm>
          <a:prstGeom prst="rect">
            <a:avLst/>
          </a:prstGeom>
          <a:solidFill>
            <a:srgbClr val="DE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60120" y="5486400"/>
            <a:ext cx="5943600" cy="12700"/>
          </a:xfrm>
          <a:prstGeom prst="rect">
            <a:avLst/>
          </a:prstGeom>
          <a:solidFill>
            <a:srgbClr val="DE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294447" y="4112742"/>
            <a:ext cx="817245" cy="1373658"/>
          </a:xfrm>
          <a:prstGeom prst="rect">
            <a:avLst/>
          </a:prstGeom>
          <a:solidFill>
            <a:srgbClr val="1F6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57287" y="3856710"/>
            <a:ext cx="109156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2B36"/>
                </a:solidFill>
                <a:latin typeface="Candara"/>
              </a:rPr>
              <a:t>25,288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567" y="5559552"/>
            <a:ext cx="118300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A6B78"/>
                </a:solidFill>
                <a:latin typeface="Candara"/>
              </a:rPr>
              <a:t>FY21-22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80347" y="3583606"/>
            <a:ext cx="817245" cy="1902794"/>
          </a:xfrm>
          <a:prstGeom prst="rect">
            <a:avLst/>
          </a:prstGeom>
          <a:solidFill>
            <a:srgbClr val="1F6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643187" y="3327574"/>
            <a:ext cx="109156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2B36"/>
                </a:solidFill>
                <a:latin typeface="Candara"/>
              </a:rPr>
              <a:t>35,029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97467" y="5559552"/>
            <a:ext cx="118300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A6B78"/>
                </a:solidFill>
                <a:latin typeface="Candara"/>
              </a:rPr>
              <a:t>FY22-23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66247" y="3308200"/>
            <a:ext cx="817245" cy="2178200"/>
          </a:xfrm>
          <a:prstGeom prst="rect">
            <a:avLst/>
          </a:prstGeom>
          <a:solidFill>
            <a:srgbClr val="1F6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29087" y="3052168"/>
            <a:ext cx="109156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2B36"/>
                </a:solidFill>
                <a:latin typeface="Candara"/>
              </a:rPr>
              <a:t>40,099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83367" y="5559552"/>
            <a:ext cx="118300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A6B78"/>
                </a:solidFill>
                <a:latin typeface="Candara"/>
              </a:rPr>
              <a:t>FY23-24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52147" y="2353734"/>
            <a:ext cx="817245" cy="3132666"/>
          </a:xfrm>
          <a:prstGeom prst="rect">
            <a:avLst/>
          </a:prstGeom>
          <a:solidFill>
            <a:srgbClr val="C45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614987" y="2097702"/>
            <a:ext cx="109156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2B36"/>
                </a:solidFill>
                <a:latin typeface="Candara"/>
              </a:rPr>
              <a:t>57,670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69267" y="5559552"/>
            <a:ext cx="118300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A6B78"/>
                </a:solidFill>
                <a:latin typeface="Candara"/>
              </a:rPr>
              <a:t>FY24-25*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79" y="1600200"/>
            <a:ext cx="420624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26679" y="18288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B36"/>
                </a:solidFill>
                <a:latin typeface="Candara"/>
              </a:rPr>
              <a:t>Why this matters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79" y="2331720"/>
            <a:ext cx="374903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B78"/>
                </a:solidFill>
                <a:latin typeface="Candara"/>
              </a:rPr>
              <a:t>•  Many documents every year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5A6B78"/>
                </a:solidFill>
                <a:latin typeface="Candara"/>
              </a:rPr>
              <a:t>•  Even small fraud causes big loss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5A6B78"/>
                </a:solidFill>
                <a:latin typeface="Candara"/>
              </a:rPr>
              <a:t>•  Recent cases show pressure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5A6B78"/>
                </a:solidFill>
                <a:latin typeface="Candara"/>
              </a:rPr>
              <a:t>•  Secure paper reduces fake risk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5A6B78"/>
                </a:solidFill>
                <a:latin typeface="Candara"/>
              </a:rPr>
              <a:t>•  Quick check builds trust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0807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B78"/>
                </a:solidFill>
                <a:latin typeface="Candara"/>
              </a:rPr>
              <a:t>*FY24–25 about ₹57,670 Cr (news). Older years from IGR data. Shown for simple understanding.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6446520"/>
            <a:ext cx="11338560" cy="13716"/>
          </a:xfrm>
          <a:prstGeom prst="rect">
            <a:avLst/>
          </a:prstGeom>
          <a:solidFill>
            <a:srgbClr val="DE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11480" y="65105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B78"/>
                </a:solidFill>
                <a:latin typeface="Candara"/>
              </a:rPr>
              <a:t>Secure Legal Paper  |  Paper Security + QR Check + Tracking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6510528"/>
            <a:ext cx="3977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A6B78"/>
                </a:solidFill>
                <a:latin typeface="Candara"/>
              </a:rPr>
              <a:t>Confidential  ·  www.pgpltechprint.com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30352"/>
            <a:ext cx="12191695" cy="32004"/>
          </a:xfrm>
          <a:prstGeom prst="rect">
            <a:avLst/>
          </a:prstGeom>
          <a:solidFill>
            <a:srgbClr val="C45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2801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22B3C"/>
                </a:solidFill>
                <a:latin typeface="Candara"/>
              </a:rPr>
              <a:t>PRAKRUTI GRAPHIC PVT. LTD.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2801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B78"/>
                </a:solidFill>
                <a:latin typeface="Candara"/>
              </a:rPr>
              <a:t>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2801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A6B78"/>
                </a:solidFill>
                <a:latin typeface="Candara"/>
              </a:rPr>
              <a:t>9  / 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B36"/>
                </a:solidFill>
                <a:latin typeface="Georgia"/>
              </a:rPr>
              <a:t>Our Secure Legal Paper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7043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B78"/>
                </a:solidFill>
                <a:latin typeface="Candara"/>
              </a:rPr>
              <a:t>Strong paper made in-house — with many safety marks + QR check</a:t>
            </a:r>
          </a:p>
        </p:txBody>
      </p:sp>
      <p:pic>
        <p:nvPicPr>
          <p:cNvPr id="10" name="Picture 9" descr="process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3258303" cy="44805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937760" y="1645920"/>
            <a:ext cx="676656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66360" y="1719072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45E24"/>
                </a:solidFill>
                <a:latin typeface="Candara"/>
              </a:rPr>
              <a:t>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1965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36"/>
                </a:solidFill>
                <a:latin typeface="Candara"/>
              </a:rPr>
              <a:t>Property registration / stamp department papers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2377440"/>
            <a:ext cx="676656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166360" y="2450592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45E24"/>
                </a:solidFill>
                <a:latin typeface="Candara"/>
              </a:rPr>
              <a:t>Size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26974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36"/>
                </a:solidFill>
                <a:latin typeface="Candara"/>
              </a:rPr>
              <a:t>Legal size — 216 × 356 mm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37760" y="3108960"/>
            <a:ext cx="676656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66360" y="3182112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45E24"/>
                </a:solidFill>
                <a:latin typeface="Candara"/>
              </a:rPr>
              <a:t>Paper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36"/>
                </a:solidFill>
                <a:latin typeface="Candara"/>
              </a:rPr>
              <a:t>Thick strong paper (about 140 micron) — hard to tear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37760" y="3840480"/>
            <a:ext cx="676656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66360" y="3913632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45E24"/>
                </a:solidFill>
                <a:latin typeface="Candara"/>
              </a:rPr>
              <a:t>For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41605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36"/>
                </a:solidFill>
                <a:latin typeface="Candara"/>
              </a:rPr>
              <a:t>Maharashtra Registration &amp; Stamps Department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37760" y="4572000"/>
            <a:ext cx="676656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166360" y="4645152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45E24"/>
                </a:solidFill>
                <a:latin typeface="Candara"/>
              </a:rPr>
              <a:t>On paper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6360" y="48920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36"/>
                </a:solidFill>
                <a:latin typeface="Candara"/>
              </a:rPr>
              <a:t>Watermark, copy-stop mark, UV mark, hologram, foil, raised print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37760" y="5303520"/>
            <a:ext cx="676656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166360" y="5376672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45E24"/>
                </a:solidFill>
                <a:latin typeface="Candara"/>
              </a:rPr>
              <a:t>Digital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66360" y="56235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36"/>
                </a:solidFill>
                <a:latin typeface="Candara"/>
              </a:rPr>
              <a:t>QR code on paper for Real / Fake check and tracking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6446520"/>
            <a:ext cx="11338560" cy="13716"/>
          </a:xfrm>
          <a:prstGeom prst="rect">
            <a:avLst/>
          </a:prstGeom>
          <a:solidFill>
            <a:srgbClr val="DE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11480" y="65105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B78"/>
                </a:solidFill>
                <a:latin typeface="Candara"/>
              </a:rPr>
              <a:t>Secure Legal Paper  |  Paper Security + QR Check + Tracking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6510528"/>
            <a:ext cx="3977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A6B78"/>
                </a:solidFill>
                <a:latin typeface="Candara"/>
              </a:rPr>
              <a:t>Confidential  ·  www.pgpltechprint.com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30352"/>
            <a:ext cx="12191695" cy="32004"/>
          </a:xfrm>
          <a:prstGeom prst="rect">
            <a:avLst/>
          </a:prstGeom>
          <a:solidFill>
            <a:srgbClr val="C45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2801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22B3C"/>
                </a:solidFill>
                <a:latin typeface="Candara"/>
              </a:rPr>
              <a:t>PRAKRUTI GRAPHIC PVT. LTD.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2801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B78"/>
                </a:solidFill>
                <a:latin typeface="Candara"/>
              </a:rPr>
              <a:t>Problem 04 · Together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2801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A6B78"/>
                </a:solidFill>
                <a:latin typeface="Candara"/>
              </a:rPr>
              <a:t>10  / 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B36"/>
                </a:solidFill>
                <a:latin typeface="Georgia"/>
              </a:rPr>
              <a:t>Paper Safety + Digital Check — Together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7043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B78"/>
                </a:solidFill>
                <a:latin typeface="Candara"/>
              </a:rPr>
              <a:t>Only paper or only online is not enough. Both must work as one.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91640"/>
            <a:ext cx="539496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691640"/>
            <a:ext cx="5394960" cy="502920"/>
          </a:xfrm>
          <a:prstGeom prst="rect">
            <a:avLst/>
          </a:prstGeom>
          <a:solidFill>
            <a:srgbClr val="12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17830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ndara"/>
              </a:rPr>
              <a:t>ON THE PAPER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7744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36"/>
                </a:solidFill>
                <a:latin typeface="Candara"/>
              </a:rPr>
              <a:t>•  Strong paper that does not tear easily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A2B36"/>
                </a:solidFill>
                <a:latin typeface="Candara"/>
              </a:rPr>
              <a:t>•  Watermark and fine line patterns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A2B36"/>
                </a:solidFill>
                <a:latin typeface="Candara"/>
              </a:rPr>
              <a:t>•  Copy shows warning mark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A2B36"/>
                </a:solidFill>
                <a:latin typeface="Candara"/>
              </a:rPr>
              <a:t>•  Rainbow border design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A2B36"/>
                </a:solidFill>
                <a:latin typeface="Candara"/>
              </a:rPr>
              <a:t>•  Hidden mark seen under special light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A2B36"/>
                </a:solidFill>
                <a:latin typeface="Candara"/>
              </a:rPr>
              <a:t>•  Hologram and shiny foil logo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A2B36"/>
                </a:solidFill>
                <a:latin typeface="Candara"/>
              </a:rPr>
              <a:t>•  Raised MH print you can feel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691640"/>
            <a:ext cx="539496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09360" y="1691640"/>
            <a:ext cx="5394960" cy="502920"/>
          </a:xfrm>
          <a:prstGeom prst="rect">
            <a:avLst/>
          </a:prstGeom>
          <a:solidFill>
            <a:srgbClr val="1F6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17830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ndara"/>
              </a:rPr>
              <a:t>ON PHONE / COMPUTER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237744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36"/>
                </a:solidFill>
                <a:latin typeface="Candara"/>
              </a:rPr>
              <a:t>•  Unique QR on every sheet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A2B36"/>
                </a:solidFill>
                <a:latin typeface="Candara"/>
              </a:rPr>
              <a:t>•  Check against secure online record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A2B36"/>
                </a:solidFill>
                <a:latin typeface="Candara"/>
              </a:rPr>
              <a:t>•  Instant Real / Fake result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A2B36"/>
                </a:solidFill>
                <a:latin typeface="Candara"/>
              </a:rPr>
              <a:t>•  See basic paper information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A2B36"/>
                </a:solidFill>
                <a:latin typeface="Candara"/>
              </a:rPr>
              <a:t>•  Scan place and time gets saved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A2B36"/>
                </a:solidFill>
                <a:latin typeface="Candara"/>
              </a:rPr>
              <a:t>•  Admin can track all scans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A2B36"/>
                </a:solidFill>
                <a:latin typeface="Candara"/>
              </a:rPr>
              <a:t>•  Safety check at every step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6446520"/>
            <a:ext cx="11338560" cy="13716"/>
          </a:xfrm>
          <a:prstGeom prst="rect">
            <a:avLst/>
          </a:prstGeom>
          <a:solidFill>
            <a:srgbClr val="DE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65105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B78"/>
                </a:solidFill>
                <a:latin typeface="Candara"/>
              </a:rPr>
              <a:t>Secure Legal Paper  |  Paper Security + QR Check + Tracking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510528"/>
            <a:ext cx="3977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A6B78"/>
                </a:solidFill>
                <a:latin typeface="Candara"/>
              </a:rPr>
              <a:t>Confidential  ·  www.pgpltechprint.com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30352"/>
            <a:ext cx="12191695" cy="32004"/>
          </a:xfrm>
          <a:prstGeom prst="rect">
            <a:avLst/>
          </a:prstGeom>
          <a:solidFill>
            <a:srgbClr val="C45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2801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22B3C"/>
                </a:solidFill>
                <a:latin typeface="Candara"/>
              </a:rPr>
              <a:t>PRAKRUTI GRAPHIC PVT. LTD.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2801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B78"/>
                </a:solidFill>
                <a:latin typeface="Candara"/>
              </a:rPr>
              <a:t>How Paper is Made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2801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A6B78"/>
                </a:solidFill>
                <a:latin typeface="Candara"/>
              </a:rPr>
              <a:t>11  / 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B36"/>
                </a:solidFill>
                <a:latin typeface="Georgia"/>
              </a:rPr>
              <a:t>8 Safety Steps on One Paper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7043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B78"/>
                </a:solidFill>
                <a:latin typeface="Candara"/>
              </a:rPr>
              <a:t>Each step adds one more lock against fake papers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37360"/>
            <a:ext cx="274320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508760" y="1965960"/>
            <a:ext cx="640080" cy="640080"/>
          </a:xfrm>
          <a:prstGeom prst="ellipse">
            <a:avLst/>
          </a:prstGeom>
          <a:solidFill>
            <a:srgbClr val="C45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08760" y="21031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ndar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7432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2B36"/>
                </a:solidFill>
                <a:latin typeface="Candara"/>
              </a:rPr>
              <a:t>Strong 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0632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B78"/>
                </a:solidFill>
                <a:latin typeface="Candara"/>
              </a:rPr>
              <a:t>Thick green secure paper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1737360"/>
            <a:ext cx="274320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434840" y="1965960"/>
            <a:ext cx="640080" cy="640080"/>
          </a:xfrm>
          <a:prstGeom prst="ellipse">
            <a:avLst/>
          </a:prstGeom>
          <a:solidFill>
            <a:srgbClr val="C45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34840" y="21031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ndar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7432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2B36"/>
                </a:solidFill>
                <a:latin typeface="Candara"/>
              </a:rPr>
              <a:t>Watermark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30632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B78"/>
                </a:solidFill>
                <a:latin typeface="Candara"/>
              </a:rPr>
              <a:t>Hidden mark in paper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1737360"/>
            <a:ext cx="274320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360920" y="1965960"/>
            <a:ext cx="640080" cy="640080"/>
          </a:xfrm>
          <a:prstGeom prst="ellipse">
            <a:avLst/>
          </a:prstGeom>
          <a:solidFill>
            <a:srgbClr val="C45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60920" y="21031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ndar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7432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2B36"/>
                </a:solidFill>
                <a:latin typeface="Candara"/>
              </a:rPr>
              <a:t>Copy Stop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0632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B78"/>
                </a:solidFill>
                <a:latin typeface="Candara"/>
              </a:rPr>
              <a:t>Copy shows warning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35440" y="1737360"/>
            <a:ext cx="274320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287000" y="1965960"/>
            <a:ext cx="640080" cy="640080"/>
          </a:xfrm>
          <a:prstGeom prst="ellipse">
            <a:avLst/>
          </a:prstGeom>
          <a:solidFill>
            <a:srgbClr val="C45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287000" y="21031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ndara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600" y="27432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2B36"/>
                </a:solidFill>
                <a:latin typeface="Candara"/>
              </a:rPr>
              <a:t>Colour Print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30632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B78"/>
                </a:solidFill>
                <a:latin typeface="Candara"/>
              </a:rPr>
              <a:t>Official government look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886200"/>
            <a:ext cx="274320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508760" y="4114800"/>
            <a:ext cx="640080" cy="640080"/>
          </a:xfrm>
          <a:prstGeom prst="ellipse">
            <a:avLst/>
          </a:prstGeom>
          <a:solidFill>
            <a:srgbClr val="C45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508760" y="42519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ndar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4892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2B36"/>
                </a:solidFill>
                <a:latin typeface="Candara"/>
              </a:rPr>
              <a:t>Hidden Ink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52120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B78"/>
                </a:solidFill>
                <a:latin typeface="Candara"/>
              </a:rPr>
              <a:t>Seen under special light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83280" y="3886200"/>
            <a:ext cx="274320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4434840" y="4114800"/>
            <a:ext cx="640080" cy="640080"/>
          </a:xfrm>
          <a:prstGeom prst="ellipse">
            <a:avLst/>
          </a:prstGeom>
          <a:solidFill>
            <a:srgbClr val="C45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434840" y="42519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ndara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20440" y="4892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2B36"/>
                </a:solidFill>
                <a:latin typeface="Candara"/>
              </a:rPr>
              <a:t>Hologram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20440" y="52120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B78"/>
                </a:solidFill>
                <a:latin typeface="Candara"/>
              </a:rPr>
              <a:t>Shiny security stamp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09360" y="3886200"/>
            <a:ext cx="274320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7360920" y="4114800"/>
            <a:ext cx="640080" cy="640080"/>
          </a:xfrm>
          <a:prstGeom prst="ellipse">
            <a:avLst/>
          </a:prstGeom>
          <a:solidFill>
            <a:srgbClr val="C45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360920" y="42519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ndara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4892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2B36"/>
                </a:solidFill>
                <a:latin typeface="Candara"/>
              </a:rPr>
              <a:t>Metal Logo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52120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B78"/>
                </a:solidFill>
                <a:latin typeface="Candara"/>
              </a:rPr>
              <a:t>Hot foil government seal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235440" y="3886200"/>
            <a:ext cx="274320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10287000" y="4114800"/>
            <a:ext cx="640080" cy="640080"/>
          </a:xfrm>
          <a:prstGeom prst="ellipse">
            <a:avLst/>
          </a:prstGeom>
          <a:solidFill>
            <a:srgbClr val="C45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287000" y="42519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ndara"/>
              </a:rPr>
              <a:t>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72600" y="4892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2B36"/>
                </a:solidFill>
                <a:latin typeface="Candara"/>
              </a:rPr>
              <a:t>Raised Print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72600" y="52120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B78"/>
                </a:solidFill>
                <a:latin typeface="Candara"/>
              </a:rPr>
              <a:t>MH mark you can feel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" y="6446520"/>
            <a:ext cx="11338560" cy="13716"/>
          </a:xfrm>
          <a:prstGeom prst="rect">
            <a:avLst/>
          </a:prstGeom>
          <a:solidFill>
            <a:srgbClr val="DE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11480" y="65105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B78"/>
                </a:solidFill>
                <a:latin typeface="Candara"/>
              </a:rPr>
              <a:t>Secure Legal Paper  |  Paper Security + QR Check + Tracking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72400" y="6510528"/>
            <a:ext cx="3977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A6B78"/>
                </a:solidFill>
                <a:latin typeface="Candara"/>
              </a:rPr>
              <a:t>Confidential  ·  www.pgpltechprint.com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30352"/>
            <a:ext cx="12191695" cy="32004"/>
          </a:xfrm>
          <a:prstGeom prst="rect">
            <a:avLst/>
          </a:prstGeom>
          <a:solidFill>
            <a:srgbClr val="C45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2801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22B3C"/>
                </a:solidFill>
                <a:latin typeface="Candara"/>
              </a:rPr>
              <a:t>PRAKRUTI GRAPHIC PVT. LTD.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2801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B78"/>
                </a:solidFill>
                <a:latin typeface="Candara"/>
              </a:rPr>
              <a:t>Paper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2801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A6B78"/>
                </a:solidFill>
                <a:latin typeface="Candara"/>
              </a:rPr>
              <a:t>12  / 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713232"/>
            <a:ext cx="1645920" cy="292608"/>
          </a:xfrm>
          <a:prstGeom prst="roundRect">
            <a:avLst>
              <a:gd name="adj" fmla="val 8000"/>
            </a:avLst>
          </a:prstGeom>
          <a:solidFill>
            <a:srgbClr val="F7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74980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45E24"/>
                </a:solidFill>
                <a:latin typeface="Candara"/>
              </a:rPr>
              <a:t>STEP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B36"/>
                </a:solidFill>
                <a:latin typeface="Georgia"/>
              </a:rPr>
              <a:t>Strong Paper That Does Not Tear Easily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09728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B78"/>
                </a:solidFill>
                <a:latin typeface="Candara"/>
              </a:rPr>
              <a:t>Made in-house — thicker and stronger than normal legal paper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554480"/>
            <a:ext cx="5669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B36"/>
                </a:solidFill>
                <a:latin typeface="Candara"/>
              </a:rPr>
              <a:t>•  Special strong paper made by us</a:t>
            </a:r>
          </a:p>
          <a:p>
            <a:pPr algn="l">
              <a:spcBef>
                <a:spcPts val="1000"/>
              </a:spcBef>
            </a:pPr>
            <a:r>
              <a:rPr sz="1500" b="0">
                <a:solidFill>
                  <a:srgbClr val="1A2B36"/>
                </a:solidFill>
                <a:latin typeface="Candara"/>
              </a:rPr>
              <a:t>•  About 140 micron thick — hard to tear</a:t>
            </a:r>
          </a:p>
          <a:p>
            <a:pPr algn="l">
              <a:spcBef>
                <a:spcPts val="1000"/>
              </a:spcBef>
            </a:pPr>
            <a:r>
              <a:rPr sz="1500" b="0">
                <a:solidFill>
                  <a:srgbClr val="1A2B36"/>
                </a:solidFill>
                <a:latin typeface="Candara"/>
              </a:rPr>
              <a:t>•  Harder to replace with normal office paper</a:t>
            </a:r>
          </a:p>
          <a:p>
            <a:pPr algn="l">
              <a:spcBef>
                <a:spcPts val="1000"/>
              </a:spcBef>
            </a:pPr>
            <a:r>
              <a:rPr sz="1500" b="0">
                <a:solidFill>
                  <a:srgbClr val="1A2B36"/>
                </a:solidFill>
                <a:latin typeface="Candara"/>
              </a:rPr>
              <a:t>•  Feels better and safer than plain green paper</a:t>
            </a:r>
          </a:p>
          <a:p>
            <a:pPr algn="l">
              <a:spcBef>
                <a:spcPts val="1000"/>
              </a:spcBef>
            </a:pPr>
            <a:r>
              <a:rPr sz="1500" b="0">
                <a:solidFill>
                  <a:srgbClr val="1A2B36"/>
                </a:solidFill>
                <a:latin typeface="Candara"/>
              </a:rPr>
              <a:t>•  Base for all other safety marks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417320"/>
            <a:ext cx="5303520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process_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600200"/>
            <a:ext cx="2579934" cy="429768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11480" y="6446520"/>
            <a:ext cx="11338560" cy="13716"/>
          </a:xfrm>
          <a:prstGeom prst="rect">
            <a:avLst/>
          </a:prstGeom>
          <a:solidFill>
            <a:srgbClr val="DE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80" y="65105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B78"/>
                </a:solidFill>
                <a:latin typeface="Candara"/>
              </a:rPr>
              <a:t>Secure Legal Paper  |  Paper Security + QR Check + Tracking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510528"/>
            <a:ext cx="3977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A6B78"/>
                </a:solidFill>
                <a:latin typeface="Candara"/>
              </a:rPr>
              <a:t>Confidential  ·  www.pgpltechprint.com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30352"/>
            <a:ext cx="12191695" cy="32004"/>
          </a:xfrm>
          <a:prstGeom prst="rect">
            <a:avLst/>
          </a:prstGeom>
          <a:solidFill>
            <a:srgbClr val="C45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2801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22B3C"/>
                </a:solidFill>
                <a:latin typeface="Candara"/>
              </a:rPr>
              <a:t>PRAKRUTI GRAPHIC PVT. LTD.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2801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B78"/>
                </a:solidFill>
                <a:latin typeface="Candara"/>
              </a:rPr>
              <a:t>Paper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2801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A6B78"/>
                </a:solidFill>
                <a:latin typeface="Candara"/>
              </a:rPr>
              <a:t>13  / 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713232"/>
            <a:ext cx="1645920" cy="292608"/>
          </a:xfrm>
          <a:prstGeom prst="roundRect">
            <a:avLst>
              <a:gd name="adj" fmla="val 8000"/>
            </a:avLst>
          </a:prstGeom>
          <a:solidFill>
            <a:srgbClr val="F7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74980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45E24"/>
                </a:solidFill>
                <a:latin typeface="Candara"/>
              </a:rPr>
              <a:t>STEP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B36"/>
                </a:solidFill>
                <a:latin typeface="Georgia"/>
              </a:rPr>
              <a:t>Watermark Safety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09728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B78"/>
                </a:solidFill>
                <a:latin typeface="Candara"/>
              </a:rPr>
              <a:t>Hidden mark inside the paper — copy cannot keep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554480"/>
            <a:ext cx="5669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B36"/>
                </a:solidFill>
                <a:latin typeface="Candara"/>
              </a:rPr>
              <a:t>•  Watermark added during paper making</a:t>
            </a:r>
          </a:p>
          <a:p>
            <a:pPr algn="l">
              <a:spcBef>
                <a:spcPts val="1000"/>
              </a:spcBef>
            </a:pPr>
            <a:r>
              <a:rPr sz="1500" b="0">
                <a:solidFill>
                  <a:srgbClr val="1A2B36"/>
                </a:solidFill>
                <a:latin typeface="Candara"/>
              </a:rPr>
              <a:t>•  Can be checked in light</a:t>
            </a:r>
          </a:p>
          <a:p>
            <a:pPr algn="l">
              <a:spcBef>
                <a:spcPts val="1000"/>
              </a:spcBef>
            </a:pPr>
            <a:r>
              <a:rPr sz="1500" b="0">
                <a:solidFill>
                  <a:srgbClr val="1A2B36"/>
                </a:solidFill>
                <a:latin typeface="Candara"/>
              </a:rPr>
              <a:t>•  Normal photocopy cannot copy it properly</a:t>
            </a:r>
          </a:p>
          <a:p>
            <a:pPr algn="l">
              <a:spcBef>
                <a:spcPts val="1000"/>
              </a:spcBef>
            </a:pPr>
            <a:r>
              <a:rPr sz="1500" b="0">
                <a:solidFill>
                  <a:srgbClr val="1A2B36"/>
                </a:solidFill>
                <a:latin typeface="Candara"/>
              </a:rPr>
              <a:t>•  Helps confirm the paper is original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417320"/>
            <a:ext cx="5303520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process_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600200"/>
            <a:ext cx="2579934" cy="429768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11480" y="6446520"/>
            <a:ext cx="11338560" cy="13716"/>
          </a:xfrm>
          <a:prstGeom prst="rect">
            <a:avLst/>
          </a:prstGeom>
          <a:solidFill>
            <a:srgbClr val="DE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80" y="65105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B78"/>
                </a:solidFill>
                <a:latin typeface="Candara"/>
              </a:rPr>
              <a:t>Secure Legal Paper  |  Paper Security + QR Check + Tracking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510528"/>
            <a:ext cx="3977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A6B78"/>
                </a:solidFill>
                <a:latin typeface="Candara"/>
              </a:rPr>
              <a:t>Confidential  ·  www.pgpltechprint.com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30352"/>
            <a:ext cx="12191695" cy="32004"/>
          </a:xfrm>
          <a:prstGeom prst="rect">
            <a:avLst/>
          </a:prstGeom>
          <a:solidFill>
            <a:srgbClr val="C45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2801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22B3C"/>
                </a:solidFill>
                <a:latin typeface="Candara"/>
              </a:rPr>
              <a:t>PRAKRUTI GRAPHIC PVT. LTD.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2801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B78"/>
                </a:solidFill>
                <a:latin typeface="Candara"/>
              </a:rPr>
              <a:t>Paper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2801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A6B78"/>
                </a:solidFill>
                <a:latin typeface="Candara"/>
              </a:rPr>
              <a:t>14  / 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713232"/>
            <a:ext cx="1645920" cy="292608"/>
          </a:xfrm>
          <a:prstGeom prst="roundRect">
            <a:avLst>
              <a:gd name="adj" fmla="val 8000"/>
            </a:avLst>
          </a:prstGeom>
          <a:solidFill>
            <a:srgbClr val="F7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74980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45E24"/>
                </a:solidFill>
                <a:latin typeface="Candara"/>
              </a:rPr>
              <a:t>STEP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B36"/>
                </a:solidFill>
                <a:latin typeface="Georgia"/>
              </a:rPr>
              <a:t>Copy-Stop Printing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09728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B78"/>
                </a:solidFill>
                <a:latin typeface="Candara"/>
              </a:rPr>
              <a:t>If someone photocopies, a warning mark can appear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554480"/>
            <a:ext cx="5669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B36"/>
                </a:solidFill>
                <a:latin typeface="Candara"/>
              </a:rPr>
              <a:t>•  Special print that stops easy copying</a:t>
            </a:r>
          </a:p>
          <a:p>
            <a:pPr algn="l">
              <a:spcBef>
                <a:spcPts val="1000"/>
              </a:spcBef>
            </a:pPr>
            <a:r>
              <a:rPr sz="1500" b="0">
                <a:solidFill>
                  <a:srgbClr val="1A2B36"/>
                </a:solidFill>
                <a:latin typeface="Candara"/>
              </a:rPr>
              <a:t>•  Original looks clean</a:t>
            </a:r>
          </a:p>
          <a:p>
            <a:pPr algn="l">
              <a:spcBef>
                <a:spcPts val="1000"/>
              </a:spcBef>
            </a:pPr>
            <a:r>
              <a:rPr sz="1500" b="0">
                <a:solidFill>
                  <a:srgbClr val="1A2B36"/>
                </a:solidFill>
                <a:latin typeface="Candara"/>
              </a:rPr>
              <a:t>•  Copy can show a warning word</a:t>
            </a:r>
          </a:p>
          <a:p>
            <a:pPr algn="l">
              <a:spcBef>
                <a:spcPts val="1000"/>
              </a:spcBef>
            </a:pPr>
            <a:r>
              <a:rPr sz="1500" b="0">
                <a:solidFill>
                  <a:srgbClr val="1A2B36"/>
                </a:solidFill>
                <a:latin typeface="Candara"/>
              </a:rPr>
              <a:t>•  Direct help against fake duplicate papers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417320"/>
            <a:ext cx="5303520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process_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600200"/>
            <a:ext cx="2579934" cy="429768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11480" y="6446520"/>
            <a:ext cx="11338560" cy="13716"/>
          </a:xfrm>
          <a:prstGeom prst="rect">
            <a:avLst/>
          </a:prstGeom>
          <a:solidFill>
            <a:srgbClr val="DE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80" y="65105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B78"/>
                </a:solidFill>
                <a:latin typeface="Candara"/>
              </a:rPr>
              <a:t>Secure Legal Paper  |  Paper Security + QR Check + Tracking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510528"/>
            <a:ext cx="3977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A6B78"/>
                </a:solidFill>
                <a:latin typeface="Candara"/>
              </a:rPr>
              <a:t>Confidential  ·  www.pgpltechprint.com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30352"/>
            <a:ext cx="12191695" cy="32004"/>
          </a:xfrm>
          <a:prstGeom prst="rect">
            <a:avLst/>
          </a:prstGeom>
          <a:solidFill>
            <a:srgbClr val="C45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2801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22B3C"/>
                </a:solidFill>
                <a:latin typeface="Candara"/>
              </a:rPr>
              <a:t>PRAKRUTI GRAPHIC PVT. LTD.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2801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B78"/>
                </a:solidFill>
                <a:latin typeface="Candara"/>
              </a:rPr>
              <a:t>Paper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2801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A6B78"/>
                </a:solidFill>
                <a:latin typeface="Candara"/>
              </a:rPr>
              <a:t>15  / 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713232"/>
            <a:ext cx="1645920" cy="292608"/>
          </a:xfrm>
          <a:prstGeom prst="roundRect">
            <a:avLst>
              <a:gd name="adj" fmla="val 8000"/>
            </a:avLst>
          </a:prstGeom>
          <a:solidFill>
            <a:srgbClr val="F7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74980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45E24"/>
                </a:solidFill>
                <a:latin typeface="Candara"/>
              </a:rPr>
              <a:t>STEP 04–05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B36"/>
                </a:solidFill>
                <a:latin typeface="Georgia"/>
              </a:rPr>
              <a:t>Rainbow Border · Official Print · Hidden Ink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09728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B78"/>
                </a:solidFill>
                <a:latin typeface="Candara"/>
              </a:rPr>
              <a:t>Fine border + government look + secret marks under special light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554480"/>
            <a:ext cx="5669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B36"/>
                </a:solidFill>
                <a:latin typeface="Candara"/>
              </a:rPr>
              <a:t>•  Fine rainbow / wave border — hard to print at home</a:t>
            </a:r>
          </a:p>
          <a:p>
            <a:pPr algn="l">
              <a:spcBef>
                <a:spcPts val="1000"/>
              </a:spcBef>
            </a:pPr>
            <a:r>
              <a:rPr sz="1500" b="0">
                <a:solidFill>
                  <a:srgbClr val="1A2B36"/>
                </a:solidFill>
                <a:latin typeface="Candara"/>
              </a:rPr>
              <a:t>•  Official Maharashtra department printing</a:t>
            </a:r>
          </a:p>
          <a:p>
            <a:pPr algn="l">
              <a:spcBef>
                <a:spcPts val="1000"/>
              </a:spcBef>
            </a:pPr>
            <a:r>
              <a:rPr sz="1500" b="0">
                <a:solidFill>
                  <a:srgbClr val="1A2B36"/>
                </a:solidFill>
                <a:latin typeface="Candara"/>
              </a:rPr>
              <a:t>•  Hidden 'महाराष्ट्र' marks on the sides</a:t>
            </a:r>
          </a:p>
          <a:p>
            <a:pPr algn="l">
              <a:spcBef>
                <a:spcPts val="1000"/>
              </a:spcBef>
            </a:pPr>
            <a:r>
              <a:rPr sz="1500" b="0">
                <a:solidFill>
                  <a:srgbClr val="1A2B36"/>
                </a:solidFill>
                <a:latin typeface="Candara"/>
              </a:rPr>
              <a:t>•  Seen under special light for quick check</a:t>
            </a:r>
          </a:p>
          <a:p>
            <a:pPr algn="l">
              <a:spcBef>
                <a:spcPts val="1000"/>
              </a:spcBef>
            </a:pPr>
            <a:r>
              <a:rPr sz="1500" b="0">
                <a:solidFill>
                  <a:srgbClr val="1A2B36"/>
                </a:solidFill>
                <a:latin typeface="Candara"/>
              </a:rPr>
              <a:t>•  Real close-up photos available for demo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417320"/>
            <a:ext cx="5303520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uv_guilloch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600200"/>
            <a:ext cx="4297680" cy="429768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11480" y="6446520"/>
            <a:ext cx="11338560" cy="13716"/>
          </a:xfrm>
          <a:prstGeom prst="rect">
            <a:avLst/>
          </a:prstGeom>
          <a:solidFill>
            <a:srgbClr val="DE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80" y="65105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B78"/>
                </a:solidFill>
                <a:latin typeface="Candara"/>
              </a:rPr>
              <a:t>Secure Legal Paper  |  Paper Security + QR Check + Tracking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510528"/>
            <a:ext cx="3977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A6B78"/>
                </a:solidFill>
                <a:latin typeface="Candara"/>
              </a:rPr>
              <a:t>Confidential  ·  www.pgpltechprint.com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30352"/>
            <a:ext cx="12191695" cy="32004"/>
          </a:xfrm>
          <a:prstGeom prst="rect">
            <a:avLst/>
          </a:prstGeom>
          <a:solidFill>
            <a:srgbClr val="C45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2801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22B3C"/>
                </a:solidFill>
                <a:latin typeface="Candara"/>
              </a:rPr>
              <a:t>PRAKRUTI GRAPHIC PVT. LTD.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2801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B78"/>
                </a:solidFill>
                <a:latin typeface="Candara"/>
              </a:rPr>
              <a:t>Paper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2801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A6B78"/>
                </a:solidFill>
                <a:latin typeface="Candara"/>
              </a:rPr>
              <a:t>16  / 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713232"/>
            <a:ext cx="1645920" cy="292608"/>
          </a:xfrm>
          <a:prstGeom prst="roundRect">
            <a:avLst>
              <a:gd name="adj" fmla="val 8000"/>
            </a:avLst>
          </a:prstGeom>
          <a:solidFill>
            <a:srgbClr val="F7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74980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45E24"/>
                </a:solidFill>
                <a:latin typeface="Candara"/>
              </a:rPr>
              <a:t>STEP 06–08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B36"/>
                </a:solidFill>
                <a:latin typeface="Georgia"/>
              </a:rPr>
              <a:t>Hologram · Shiny Foil · Raised Print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09728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B78"/>
                </a:solidFill>
                <a:latin typeface="Candara"/>
              </a:rPr>
              <a:t>See and feel these marks to confirm the paper is real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554480"/>
            <a:ext cx="5669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B36"/>
                </a:solidFill>
                <a:latin typeface="Candara"/>
              </a:rPr>
              <a:t>•  Hologram stamp for shiny optical safety</a:t>
            </a:r>
          </a:p>
          <a:p>
            <a:pPr algn="l">
              <a:spcBef>
                <a:spcPts val="1000"/>
              </a:spcBef>
            </a:pPr>
            <a:r>
              <a:rPr sz="1500" b="0">
                <a:solidFill>
                  <a:srgbClr val="1A2B36"/>
                </a:solidFill>
                <a:latin typeface="Candara"/>
              </a:rPr>
              <a:t>•  Metal-look Maharashtra logo with hot foil</a:t>
            </a:r>
          </a:p>
          <a:p>
            <a:pPr algn="l">
              <a:spcBef>
                <a:spcPts val="1000"/>
              </a:spcBef>
            </a:pPr>
            <a:r>
              <a:rPr sz="1500" b="0">
                <a:solidFill>
                  <a:srgbClr val="1A2B36"/>
                </a:solidFill>
                <a:latin typeface="Candara"/>
              </a:rPr>
              <a:t>•  Raised MH print that you can feel by hand</a:t>
            </a:r>
          </a:p>
          <a:p>
            <a:pPr algn="l">
              <a:spcBef>
                <a:spcPts val="1000"/>
              </a:spcBef>
            </a:pPr>
            <a:r>
              <a:rPr sz="1500" b="0">
                <a:solidFill>
                  <a:srgbClr val="1A2B36"/>
                </a:solidFill>
                <a:latin typeface="Candara"/>
              </a:rPr>
              <a:t>•  Very hard to make on normal printers</a:t>
            </a:r>
          </a:p>
          <a:p>
            <a:pPr algn="l">
              <a:spcBef>
                <a:spcPts val="1000"/>
              </a:spcBef>
            </a:pPr>
            <a:r>
              <a:rPr sz="1500" b="0">
                <a:solidFill>
                  <a:srgbClr val="1A2B36"/>
                </a:solidFill>
                <a:latin typeface="Candara"/>
              </a:rPr>
              <a:t>•  Strong visual warning against fake paper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417320"/>
            <a:ext cx="5303520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hologram_sq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600200"/>
            <a:ext cx="4297680" cy="429768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11480" y="6446520"/>
            <a:ext cx="11338560" cy="13716"/>
          </a:xfrm>
          <a:prstGeom prst="rect">
            <a:avLst/>
          </a:prstGeom>
          <a:solidFill>
            <a:srgbClr val="DE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80" y="65105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B78"/>
                </a:solidFill>
                <a:latin typeface="Candara"/>
              </a:rPr>
              <a:t>Secure Legal Paper  |  Paper Security + QR Check + Tracking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510528"/>
            <a:ext cx="3977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A6B78"/>
                </a:solidFill>
                <a:latin typeface="Candara"/>
              </a:rPr>
              <a:t>Confidential  ·  www.pgpltechprint.com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30352"/>
            <a:ext cx="12191695" cy="32004"/>
          </a:xfrm>
          <a:prstGeom prst="rect">
            <a:avLst/>
          </a:prstGeom>
          <a:solidFill>
            <a:srgbClr val="C45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2801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22B3C"/>
                </a:solidFill>
                <a:latin typeface="Candara"/>
              </a:rPr>
              <a:t>PRAKRUTI GRAPHIC PVT. LTD.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2801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B78"/>
                </a:solidFill>
                <a:latin typeface="Candara"/>
              </a:rPr>
              <a:t>Real Photos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2801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A6B78"/>
                </a:solidFill>
                <a:latin typeface="Candara"/>
              </a:rPr>
              <a:t>17  / 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B36"/>
                </a:solidFill>
                <a:latin typeface="Georgia"/>
              </a:rPr>
              <a:t>Real Close-up Photos of Safety Marks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7043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B78"/>
                </a:solidFill>
                <a:latin typeface="Candara"/>
              </a:rPr>
              <a:t>Taken from our sample secure legal paper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600200"/>
            <a:ext cx="37033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uv_guilloch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09928"/>
            <a:ext cx="1554480" cy="1554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329184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2B36"/>
                </a:solidFill>
                <a:latin typeface="Candara"/>
              </a:rPr>
              <a:t>Rainbow border + special light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600200"/>
            <a:ext cx="37033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uv_invisibl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709928"/>
            <a:ext cx="1554480" cy="15544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389120" y="329184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2B36"/>
                </a:solidFill>
                <a:latin typeface="Candara"/>
              </a:rPr>
              <a:t>Hidden mark under light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1600200"/>
            <a:ext cx="37033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mh_emboss_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1709928"/>
            <a:ext cx="1554480" cy="15544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275320" y="329184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2B36"/>
                </a:solidFill>
                <a:latin typeface="Candara"/>
              </a:rPr>
              <a:t>Raised MH print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3886200"/>
            <a:ext cx="37033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gold_foil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995928"/>
            <a:ext cx="1554480" cy="15544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02920" y="557784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2B36"/>
                </a:solidFill>
                <a:latin typeface="Candara"/>
              </a:rPr>
              <a:t>Shiny foil seal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3886200"/>
            <a:ext cx="37033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hologram_sq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4840" y="3995928"/>
            <a:ext cx="1554480" cy="15544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389120" y="557784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2B36"/>
                </a:solidFill>
                <a:latin typeface="Candara"/>
              </a:rPr>
              <a:t>Security hologram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80" y="3886200"/>
            <a:ext cx="37033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full_paper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3995928"/>
            <a:ext cx="874395" cy="15544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275320" y="557784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2B36"/>
                </a:solidFill>
                <a:latin typeface="Candara"/>
              </a:rPr>
              <a:t>Full paper sample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6446520"/>
            <a:ext cx="11338560" cy="13716"/>
          </a:xfrm>
          <a:prstGeom prst="rect">
            <a:avLst/>
          </a:prstGeom>
          <a:solidFill>
            <a:srgbClr val="DE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11480" y="65105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B78"/>
                </a:solidFill>
                <a:latin typeface="Candara"/>
              </a:rPr>
              <a:t>Secure Legal Paper  |  Paper Security + QR Check + Tracking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6510528"/>
            <a:ext cx="3977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A6B78"/>
                </a:solidFill>
                <a:latin typeface="Candara"/>
              </a:rPr>
              <a:t>Confidential  ·  www.pgpltechprint.com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30352"/>
            <a:ext cx="12191695" cy="32004"/>
          </a:xfrm>
          <a:prstGeom prst="rect">
            <a:avLst/>
          </a:prstGeom>
          <a:solidFill>
            <a:srgbClr val="C45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2801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22B3C"/>
                </a:solidFill>
                <a:latin typeface="Candara"/>
              </a:rPr>
              <a:t>PRAKRUTI GRAPHIC PVT. LTD.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2801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B78"/>
                </a:solidFill>
                <a:latin typeface="Candara"/>
              </a:rPr>
              <a:t>Paper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2801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A6B78"/>
                </a:solidFill>
                <a:latin typeface="Candara"/>
              </a:rPr>
              <a:t>18  / 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B36"/>
                </a:solidFill>
                <a:latin typeface="Georgia"/>
              </a:rPr>
              <a:t>Safety Marks — Easy 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7043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B78"/>
                </a:solidFill>
                <a:latin typeface="Candara"/>
              </a:rPr>
              <a:t>See · Feel · Scan — many ways to confirm the paper is real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2926080" cy="457200"/>
          </a:xfrm>
          <a:prstGeom prst="rect">
            <a:avLst/>
          </a:prstGeom>
          <a:solidFill>
            <a:srgbClr val="12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83280" y="1554480"/>
            <a:ext cx="2011680" cy="457200"/>
          </a:xfrm>
          <a:prstGeom prst="rect">
            <a:avLst/>
          </a:prstGeom>
          <a:solidFill>
            <a:srgbClr val="12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394960" y="1554480"/>
            <a:ext cx="6309360" cy="457200"/>
          </a:xfrm>
          <a:prstGeom prst="rect">
            <a:avLst/>
          </a:prstGeom>
          <a:solidFill>
            <a:srgbClr val="12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1645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ndara"/>
              </a:rPr>
              <a:t>Feature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1645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ndara"/>
              </a:rPr>
              <a:t>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164592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ndara"/>
              </a:rPr>
              <a:t>How it helps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029968"/>
            <a:ext cx="29260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383280" y="2029968"/>
            <a:ext cx="20116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394960" y="2029968"/>
            <a:ext cx="63093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21214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36"/>
                </a:solidFill>
                <a:latin typeface="Candara"/>
              </a:rPr>
              <a:t>Strong thick paper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21214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36"/>
                </a:solidFill>
                <a:latin typeface="Candara"/>
              </a:rPr>
              <a:t>See / Feel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2121408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36"/>
                </a:solidFill>
                <a:latin typeface="Candara"/>
              </a:rPr>
              <a:t>Hard to tear or replace with normal paper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505456"/>
            <a:ext cx="2926080" cy="4572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383280" y="2505456"/>
            <a:ext cx="2011680" cy="4572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394960" y="2505456"/>
            <a:ext cx="6309360" cy="4572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259689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36"/>
                </a:solidFill>
                <a:latin typeface="Candara"/>
              </a:rPr>
              <a:t>Watermark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259689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36"/>
                </a:solidFill>
                <a:latin typeface="Candara"/>
              </a:rPr>
              <a:t>See in light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2596896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36"/>
                </a:solidFill>
                <a:latin typeface="Candara"/>
              </a:rPr>
              <a:t>Copy cannot carry the same mark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2980944"/>
            <a:ext cx="29260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383280" y="2980944"/>
            <a:ext cx="20116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394960" y="2980944"/>
            <a:ext cx="63093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307238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36"/>
                </a:solidFill>
                <a:latin typeface="Candara"/>
              </a:rPr>
              <a:t>Copy-stop mark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0" y="307238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36"/>
                </a:solidFill>
                <a:latin typeface="Candara"/>
              </a:rPr>
              <a:t>On photocopy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3072384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36"/>
                </a:solidFill>
                <a:latin typeface="Candara"/>
              </a:rPr>
              <a:t>Copy shows a warning word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456432"/>
            <a:ext cx="2926080" cy="4572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383280" y="3456432"/>
            <a:ext cx="2011680" cy="4572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394960" y="3456432"/>
            <a:ext cx="6309360" cy="4572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48640" y="35478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36"/>
                </a:solidFill>
                <a:latin typeface="Candara"/>
              </a:rPr>
              <a:t>Rainbow border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4720" y="35478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36"/>
                </a:solidFill>
                <a:latin typeface="Candara"/>
              </a:rPr>
              <a:t>See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3547872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36"/>
                </a:solidFill>
                <a:latin typeface="Candara"/>
              </a:rPr>
              <a:t>Fine design is hard to print at home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3931920"/>
            <a:ext cx="29260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3383280" y="3931920"/>
            <a:ext cx="20116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394960" y="3931920"/>
            <a:ext cx="63093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48640" y="4023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36"/>
                </a:solidFill>
                <a:latin typeface="Candara"/>
              </a:rPr>
              <a:t>Hidden ink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74720" y="4023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36"/>
                </a:solidFill>
                <a:latin typeface="Candara"/>
              </a:rPr>
              <a:t>Special light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0" y="402336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36"/>
                </a:solidFill>
                <a:latin typeface="Candara"/>
              </a:rPr>
              <a:t>Secret Maharashtra marks appear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407408"/>
            <a:ext cx="2926080" cy="4572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3383280" y="4407408"/>
            <a:ext cx="2011680" cy="4572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5394960" y="4407408"/>
            <a:ext cx="6309360" cy="4572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48640" y="44988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36"/>
                </a:solidFill>
                <a:latin typeface="Candara"/>
              </a:rPr>
              <a:t>Hologram + foil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74720" y="44988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36"/>
                </a:solidFill>
                <a:latin typeface="Candara"/>
              </a:rPr>
              <a:t>See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0" y="4498848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36"/>
                </a:solidFill>
                <a:latin typeface="Candara"/>
              </a:rPr>
              <a:t>Shiny marks are hard to fake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4882896"/>
            <a:ext cx="29260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3383280" y="4882896"/>
            <a:ext cx="20116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394960" y="4882896"/>
            <a:ext cx="63093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48640" y="497433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36"/>
                </a:solidFill>
                <a:latin typeface="Candara"/>
              </a:rPr>
              <a:t>Raised MH print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74720" y="497433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36"/>
                </a:solidFill>
                <a:latin typeface="Candara"/>
              </a:rPr>
              <a:t>Feel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0" y="4974336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36"/>
                </a:solidFill>
                <a:latin typeface="Candara"/>
              </a:rPr>
              <a:t>Touch and confirm it is original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" y="5358384"/>
            <a:ext cx="2926080" cy="4572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3383280" y="5358384"/>
            <a:ext cx="2011680" cy="4572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5394960" y="5358384"/>
            <a:ext cx="6309360" cy="4572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48640" y="544982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36"/>
                </a:solidFill>
                <a:latin typeface="Candara"/>
              </a:rPr>
              <a:t>Unique QR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474720" y="544982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36"/>
                </a:solidFill>
                <a:latin typeface="Candara"/>
              </a:rPr>
              <a:t>Phone scan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0" y="5449824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36"/>
                </a:solidFill>
                <a:latin typeface="Candara"/>
              </a:rPr>
              <a:t>Online check + reuse warning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11480" y="6446520"/>
            <a:ext cx="11338560" cy="13716"/>
          </a:xfrm>
          <a:prstGeom prst="rect">
            <a:avLst/>
          </a:prstGeom>
          <a:solidFill>
            <a:srgbClr val="DE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11480" y="65105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B78"/>
                </a:solidFill>
                <a:latin typeface="Candara"/>
              </a:rPr>
              <a:t>Secure Legal Paper  |  Paper Security + QR Check + Tracking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72400" y="6510528"/>
            <a:ext cx="3977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A6B78"/>
                </a:solidFill>
                <a:latin typeface="Candara"/>
              </a:rPr>
              <a:t>Confidential  ·  www.pgpltechprint.com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30352"/>
            <a:ext cx="12191695" cy="32004"/>
          </a:xfrm>
          <a:prstGeom prst="rect">
            <a:avLst/>
          </a:prstGeom>
          <a:solidFill>
            <a:srgbClr val="C45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2801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22B3C"/>
                </a:solidFill>
                <a:latin typeface="Candara"/>
              </a:rPr>
              <a:t>PRAKRUTI GRAPHIC PVT. LTD.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2801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B78"/>
                </a:solidFill>
                <a:latin typeface="Candara"/>
              </a:rPr>
              <a:t>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2801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A6B78"/>
                </a:solidFill>
                <a:latin typeface="Candara"/>
              </a:rPr>
              <a:t>22  / 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B36"/>
                </a:solidFill>
                <a:latin typeface="Georgia"/>
              </a:rPr>
              <a:t>Before vs After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7043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B78"/>
                </a:solidFill>
                <a:latin typeface="Candara"/>
              </a:rPr>
              <a:t>From weak plain paper to strong secure legal paper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2743200" cy="411480"/>
          </a:xfrm>
          <a:prstGeom prst="rect">
            <a:avLst/>
          </a:prstGeom>
          <a:solidFill>
            <a:srgbClr val="12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62763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ndara"/>
              </a:rPr>
              <a:t>Point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554480"/>
            <a:ext cx="4114800" cy="411480"/>
          </a:xfrm>
          <a:prstGeom prst="rect">
            <a:avLst/>
          </a:prstGeom>
          <a:solidFill>
            <a:srgbClr val="12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91840" y="162763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ndara"/>
              </a:rPr>
              <a:t>Today (Plain / Green)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1554480"/>
            <a:ext cx="4389120" cy="411480"/>
          </a:xfrm>
          <a:prstGeom prst="rect">
            <a:avLst/>
          </a:prstGeom>
          <a:solidFill>
            <a:srgbClr val="12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06640" y="1627632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ndara"/>
              </a:rPr>
              <a:t>Our Secure Paper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965960"/>
            <a:ext cx="2743200" cy="64008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6928" y="2130552"/>
            <a:ext cx="2523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B36"/>
                </a:solidFill>
                <a:latin typeface="Candara"/>
              </a:rPr>
              <a:t>Paper strength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1965960"/>
            <a:ext cx="4114800" cy="640080"/>
          </a:xfrm>
          <a:prstGeom prst="rect">
            <a:avLst/>
          </a:prstGeom>
          <a:solidFill>
            <a:srgbClr val="FB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310128" y="2130552"/>
            <a:ext cx="38953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53A2E"/>
                </a:solidFill>
                <a:latin typeface="Candara"/>
              </a:rPr>
              <a:t>Tears / easy to replace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1965960"/>
            <a:ext cx="4389120" cy="640080"/>
          </a:xfrm>
          <a:prstGeom prst="rect">
            <a:avLst/>
          </a:prstGeom>
          <a:solidFill>
            <a:srgbClr val="E8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24928" y="2130552"/>
            <a:ext cx="41696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F7D4F"/>
                </a:solidFill>
                <a:latin typeface="Candara"/>
              </a:rPr>
              <a:t>Strong, hard to tear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606040"/>
            <a:ext cx="27432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6928" y="2770632"/>
            <a:ext cx="2523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B36"/>
                </a:solidFill>
                <a:latin typeface="Candara"/>
              </a:rPr>
              <a:t>Copy safety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2606040"/>
            <a:ext cx="4114800" cy="640080"/>
          </a:xfrm>
          <a:prstGeom prst="rect">
            <a:avLst/>
          </a:prstGeom>
          <a:solidFill>
            <a:srgbClr val="FB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310128" y="2770632"/>
            <a:ext cx="38953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53A2E"/>
                </a:solidFill>
                <a:latin typeface="Candara"/>
              </a:rPr>
              <a:t>Copy looks almost same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0" y="2606040"/>
            <a:ext cx="4389120" cy="640080"/>
          </a:xfrm>
          <a:prstGeom prst="rect">
            <a:avLst/>
          </a:prstGeom>
          <a:solidFill>
            <a:srgbClr val="E8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24928" y="2770632"/>
            <a:ext cx="41696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F7D4F"/>
                </a:solidFill>
                <a:latin typeface="Candara"/>
              </a:rPr>
              <a:t>Copy shows warning mark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246120"/>
            <a:ext cx="2743200" cy="64008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6928" y="3410712"/>
            <a:ext cx="2523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B36"/>
                </a:solidFill>
                <a:latin typeface="Candara"/>
              </a:rPr>
              <a:t>Visual check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0" y="3246120"/>
            <a:ext cx="4114800" cy="640080"/>
          </a:xfrm>
          <a:prstGeom prst="rect">
            <a:avLst/>
          </a:prstGeom>
          <a:solidFill>
            <a:srgbClr val="FB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310128" y="3410712"/>
            <a:ext cx="38953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53A2E"/>
                </a:solidFill>
                <a:latin typeface="Candara"/>
              </a:rPr>
              <a:t>Few clear signs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0" y="3246120"/>
            <a:ext cx="4389120" cy="640080"/>
          </a:xfrm>
          <a:prstGeom prst="rect">
            <a:avLst/>
          </a:prstGeom>
          <a:solidFill>
            <a:srgbClr val="E8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424928" y="3410712"/>
            <a:ext cx="41696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F7D4F"/>
                </a:solidFill>
                <a:latin typeface="Candara"/>
              </a:rPr>
              <a:t>Hologram, foil, border, raised print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886200"/>
            <a:ext cx="27432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66928" y="4050792"/>
            <a:ext cx="2523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B36"/>
                </a:solidFill>
                <a:latin typeface="Candara"/>
              </a:rPr>
              <a:t>Digital ID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0" y="3886200"/>
            <a:ext cx="4114800" cy="640080"/>
          </a:xfrm>
          <a:prstGeom prst="rect">
            <a:avLst/>
          </a:prstGeom>
          <a:solidFill>
            <a:srgbClr val="FB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310128" y="4050792"/>
            <a:ext cx="38953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53A2E"/>
                </a:solidFill>
                <a:latin typeface="Candara"/>
              </a:rPr>
              <a:t>Usually missing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0" y="3886200"/>
            <a:ext cx="4389120" cy="640080"/>
          </a:xfrm>
          <a:prstGeom prst="rect">
            <a:avLst/>
          </a:prstGeom>
          <a:solidFill>
            <a:srgbClr val="E8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424928" y="4050792"/>
            <a:ext cx="41696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F7D4F"/>
                </a:solidFill>
                <a:latin typeface="Candara"/>
              </a:rPr>
              <a:t>Unique QR on every sheet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526280"/>
            <a:ext cx="2743200" cy="64008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66928" y="4690872"/>
            <a:ext cx="2523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B36"/>
                </a:solidFill>
                <a:latin typeface="Candara"/>
              </a:rPr>
              <a:t>Tracking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0" y="4526280"/>
            <a:ext cx="4114800" cy="640080"/>
          </a:xfrm>
          <a:prstGeom prst="rect">
            <a:avLst/>
          </a:prstGeom>
          <a:solidFill>
            <a:srgbClr val="FB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310128" y="4690872"/>
            <a:ext cx="38953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53A2E"/>
                </a:solidFill>
                <a:latin typeface="Candara"/>
              </a:rPr>
              <a:t>Hard / manual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0" y="4526280"/>
            <a:ext cx="4389120" cy="640080"/>
          </a:xfrm>
          <a:prstGeom prst="rect">
            <a:avLst/>
          </a:prstGeom>
          <a:solidFill>
            <a:srgbClr val="E8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424928" y="4690872"/>
            <a:ext cx="41696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F7D4F"/>
                </a:solidFill>
                <a:latin typeface="Candara"/>
              </a:rPr>
              <a:t>Live scan tracking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5166360"/>
            <a:ext cx="27432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66928" y="5330952"/>
            <a:ext cx="2523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B36"/>
                </a:solidFill>
                <a:latin typeface="Candara"/>
              </a:rPr>
              <a:t>Process control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0" y="5166360"/>
            <a:ext cx="4114800" cy="640080"/>
          </a:xfrm>
          <a:prstGeom prst="rect">
            <a:avLst/>
          </a:prstGeom>
          <a:solidFill>
            <a:srgbClr val="FB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310128" y="5330952"/>
            <a:ext cx="38953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53A2E"/>
                </a:solidFill>
                <a:latin typeface="Candara"/>
              </a:rPr>
              <a:t>Weak checks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0" y="5166360"/>
            <a:ext cx="4389120" cy="640080"/>
          </a:xfrm>
          <a:prstGeom prst="rect">
            <a:avLst/>
          </a:prstGeom>
          <a:solidFill>
            <a:srgbClr val="E8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424928" y="5330952"/>
            <a:ext cx="41696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F7D4F"/>
                </a:solidFill>
                <a:latin typeface="Candara"/>
              </a:rPr>
              <a:t>Paper + QR checks together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1480" y="6446520"/>
            <a:ext cx="11338560" cy="13716"/>
          </a:xfrm>
          <a:prstGeom prst="rect">
            <a:avLst/>
          </a:prstGeom>
          <a:solidFill>
            <a:srgbClr val="DE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11480" y="65105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B78"/>
                </a:solidFill>
                <a:latin typeface="Candara"/>
              </a:rPr>
              <a:t>Secure Legal Paper  |  Paper Security + QR Check + Tracking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0" y="6510528"/>
            <a:ext cx="3977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A6B78"/>
                </a:solidFill>
                <a:latin typeface="Candara"/>
              </a:rPr>
              <a:t>Confidential  ·  www.pgpltechprint.com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30352"/>
            <a:ext cx="12191695" cy="32004"/>
          </a:xfrm>
          <a:prstGeom prst="rect">
            <a:avLst/>
          </a:prstGeom>
          <a:solidFill>
            <a:srgbClr val="C45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2801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22B3C"/>
                </a:solidFill>
                <a:latin typeface="Candara"/>
              </a:rPr>
              <a:t>PRAKRUTI GRAPHIC PVT. LTD.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2801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B78"/>
                </a:solidFill>
                <a:latin typeface="Candara"/>
              </a:rPr>
              <a:t>Who Gains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2801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A6B78"/>
                </a:solidFill>
                <a:latin typeface="Candara"/>
              </a:rPr>
              <a:t>23  / 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B36"/>
                </a:solidFill>
                <a:latin typeface="Georgia"/>
              </a:rPr>
              <a:t>Who Gains — and How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7043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B78"/>
                </a:solidFill>
                <a:latin typeface="Candara"/>
              </a:rPr>
              <a:t>One secure paper helps government, people and banks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737360"/>
            <a:ext cx="278892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480" y="1737360"/>
            <a:ext cx="2788920" cy="640080"/>
          </a:xfrm>
          <a:prstGeom prst="rect">
            <a:avLst/>
          </a:prstGeom>
          <a:solidFill>
            <a:srgbClr val="12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1874519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ndara"/>
              </a:rPr>
              <a:t>State / Department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51760"/>
            <a:ext cx="2423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36"/>
                </a:solidFill>
                <a:latin typeface="Candara"/>
              </a:rPr>
              <a:t>•  Less fake paper risk</a:t>
            </a:r>
          </a:p>
          <a:p>
            <a:pPr algn="l">
              <a:spcBef>
                <a:spcPts val="1200"/>
              </a:spcBef>
            </a:pPr>
            <a:r>
              <a:rPr sz="1300" b="0">
                <a:solidFill>
                  <a:srgbClr val="1A2B36"/>
                </a:solidFill>
                <a:latin typeface="Candara"/>
              </a:rPr>
              <a:t>•  Better process control</a:t>
            </a:r>
          </a:p>
          <a:p>
            <a:pPr algn="l">
              <a:spcBef>
                <a:spcPts val="1200"/>
              </a:spcBef>
            </a:pPr>
            <a:r>
              <a:rPr sz="1300" b="0">
                <a:solidFill>
                  <a:srgbClr val="1A2B36"/>
                </a:solidFill>
                <a:latin typeface="Candara"/>
              </a:rPr>
              <a:t>•  Protects public money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1737360"/>
            <a:ext cx="278892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37560" y="1737360"/>
            <a:ext cx="2788920" cy="640080"/>
          </a:xfrm>
          <a:prstGeom prst="rect">
            <a:avLst/>
          </a:prstGeom>
          <a:solidFill>
            <a:srgbClr val="12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37560" y="1874519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ndara"/>
              </a:rPr>
              <a:t>Registration Office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651760"/>
            <a:ext cx="2423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36"/>
                </a:solidFill>
                <a:latin typeface="Candara"/>
              </a:rPr>
              <a:t>•  Easy Real / Fake check</a:t>
            </a:r>
          </a:p>
          <a:p>
            <a:pPr algn="l">
              <a:spcBef>
                <a:spcPts val="1200"/>
              </a:spcBef>
            </a:pPr>
            <a:r>
              <a:rPr sz="1300" b="0">
                <a:solidFill>
                  <a:srgbClr val="1A2B36"/>
                </a:solidFill>
                <a:latin typeface="Candara"/>
              </a:rPr>
              <a:t>•  Feel, see and scan marks</a:t>
            </a:r>
          </a:p>
          <a:p>
            <a:pPr algn="l">
              <a:spcBef>
                <a:spcPts val="1200"/>
              </a:spcBef>
            </a:pPr>
            <a:r>
              <a:rPr sz="1300" b="0">
                <a:solidFill>
                  <a:srgbClr val="1A2B36"/>
                </a:solidFill>
                <a:latin typeface="Candara"/>
              </a:rPr>
              <a:t>•  Fewer disputes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737360"/>
            <a:ext cx="278892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63640" y="1737360"/>
            <a:ext cx="2788920" cy="640080"/>
          </a:xfrm>
          <a:prstGeom prst="rect">
            <a:avLst/>
          </a:prstGeom>
          <a:solidFill>
            <a:srgbClr val="12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63640" y="1874519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ndara"/>
              </a:rPr>
              <a:t>Citizens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651760"/>
            <a:ext cx="2423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36"/>
                </a:solidFill>
                <a:latin typeface="Candara"/>
              </a:rPr>
              <a:t>•  Harder to fake deeds</a:t>
            </a:r>
          </a:p>
          <a:p>
            <a:pPr algn="l">
              <a:spcBef>
                <a:spcPts val="1200"/>
              </a:spcBef>
            </a:pPr>
            <a:r>
              <a:rPr sz="1300" b="0">
                <a:solidFill>
                  <a:srgbClr val="1A2B36"/>
                </a:solidFill>
                <a:latin typeface="Candara"/>
              </a:rPr>
              <a:t>•  Scan and feel safe</a:t>
            </a:r>
          </a:p>
          <a:p>
            <a:pPr algn="l">
              <a:spcBef>
                <a:spcPts val="1200"/>
              </a:spcBef>
            </a:pPr>
            <a:r>
              <a:rPr sz="1300" b="0">
                <a:solidFill>
                  <a:srgbClr val="1A2B36"/>
                </a:solidFill>
                <a:latin typeface="Candara"/>
              </a:rPr>
              <a:t>•  Safer property deals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89720" y="1737360"/>
            <a:ext cx="278892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89720" y="1737360"/>
            <a:ext cx="2788920" cy="640080"/>
          </a:xfrm>
          <a:prstGeom prst="rect">
            <a:avLst/>
          </a:prstGeom>
          <a:solidFill>
            <a:srgbClr val="12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89720" y="1874519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ndara"/>
              </a:rPr>
              <a:t>Banks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2651760"/>
            <a:ext cx="2423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36"/>
                </a:solidFill>
                <a:latin typeface="Candara"/>
              </a:rPr>
              <a:t>•  Quick paper check</a:t>
            </a:r>
          </a:p>
          <a:p>
            <a:pPr algn="l">
              <a:spcBef>
                <a:spcPts val="1200"/>
              </a:spcBef>
            </a:pPr>
            <a:r>
              <a:rPr sz="1300" b="0">
                <a:solidFill>
                  <a:srgbClr val="1A2B36"/>
                </a:solidFill>
                <a:latin typeface="Candara"/>
              </a:rPr>
              <a:t>•  Lower document risk</a:t>
            </a:r>
          </a:p>
          <a:p>
            <a:pPr algn="l">
              <a:spcBef>
                <a:spcPts val="1200"/>
              </a:spcBef>
            </a:pPr>
            <a:r>
              <a:rPr sz="1300" b="0">
                <a:solidFill>
                  <a:srgbClr val="1A2B36"/>
                </a:solidFill>
                <a:latin typeface="Candara"/>
              </a:rPr>
              <a:t>•  Faster trust on papers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6446520"/>
            <a:ext cx="11338560" cy="13716"/>
          </a:xfrm>
          <a:prstGeom prst="rect">
            <a:avLst/>
          </a:prstGeom>
          <a:solidFill>
            <a:srgbClr val="DE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1480" y="65105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B78"/>
                </a:solidFill>
                <a:latin typeface="Candara"/>
              </a:rPr>
              <a:t>Secure Legal Paper  |  Paper Security + QR Check + Tracking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6510528"/>
            <a:ext cx="3977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A6B78"/>
                </a:solidFill>
                <a:latin typeface="Candara"/>
              </a:rPr>
              <a:t>Confidential  ·  www.pgpltechprint.com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698480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22B3C"/>
                </a:solidFill>
                <a:latin typeface="Georgia"/>
              </a:rPr>
              <a:t>Make the Paper Safe. Control the Process.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286000"/>
            <a:ext cx="9235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A6B78"/>
                </a:solidFill>
                <a:latin typeface="Candara"/>
              </a:rPr>
              <a:t>Our secure legal paper joins strong paper marks with QR checking and tracking
for Maharashtra Registration &amp; Stamps documents.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3200400"/>
            <a:ext cx="2286000" cy="822960"/>
          </a:xfrm>
          <a:prstGeom prst="roundRect">
            <a:avLst>
              <a:gd name="adj" fmla="val 8000"/>
            </a:avLst>
          </a:prstGeom>
          <a:solidFill>
            <a:srgbClr val="F7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80160" y="34290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45E24"/>
                </a:solidFill>
                <a:latin typeface="Candara"/>
              </a:rPr>
              <a:t>Stop easy copying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3200400"/>
            <a:ext cx="2286000" cy="822960"/>
          </a:xfrm>
          <a:prstGeom prst="roundRect">
            <a:avLst>
              <a:gd name="adj" fmla="val 8000"/>
            </a:avLst>
          </a:prstGeom>
          <a:solidFill>
            <a:srgbClr val="F7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49040" y="34290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45E24"/>
                </a:solidFill>
                <a:latin typeface="Candara"/>
              </a:rPr>
              <a:t>Add real checks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200400"/>
            <a:ext cx="2286000" cy="822960"/>
          </a:xfrm>
          <a:prstGeom prst="roundRect">
            <a:avLst>
              <a:gd name="adj" fmla="val 8000"/>
            </a:avLst>
          </a:prstGeom>
          <a:solidFill>
            <a:srgbClr val="F7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0" y="34290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45E24"/>
                </a:solidFill>
                <a:latin typeface="Candara"/>
              </a:rPr>
              <a:t>Join paper + digital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3200400"/>
            <a:ext cx="2286000" cy="822960"/>
          </a:xfrm>
          <a:prstGeom prst="roundRect">
            <a:avLst>
              <a:gd name="adj" fmla="val 8000"/>
            </a:avLst>
          </a:prstGeom>
          <a:solidFill>
            <a:srgbClr val="F7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0" y="34290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45E24"/>
                </a:solidFill>
                <a:latin typeface="Candara"/>
              </a:rPr>
              <a:t>Track and verify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29768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A2B36"/>
                </a:solidFill>
                <a:latin typeface="Candara"/>
              </a:rPr>
              <a:t>Next step: Sample check / small pilot with the department</a:t>
            </a:r>
          </a:p>
          <a:p>
            <a:pPr algn="ctr">
              <a:spcBef>
                <a:spcPts val="1000"/>
              </a:spcBef>
            </a:pPr>
            <a:r>
              <a:rPr sz="1300" b="0">
                <a:solidFill>
                  <a:srgbClr val="5A6B78"/>
                </a:solidFill>
                <a:latin typeface="Candara"/>
              </a:rPr>
              <a:t>prakruti@prakrutigraphic.com  ·  +91 98212 32349  ·  www.pgpltechprint.com</a:t>
            </a:r>
          </a:p>
          <a:p>
            <a:pPr algn="ctr">
              <a:spcBef>
                <a:spcPts val="1400"/>
              </a:spcBef>
            </a:pPr>
            <a:r>
              <a:rPr sz="2000" b="1">
                <a:solidFill>
                  <a:srgbClr val="122B3C"/>
                </a:solidFill>
                <a:latin typeface="Georgia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2180</Words>
  <Application>Microsoft Office PowerPoint</Application>
  <PresentationFormat>Widescreen</PresentationFormat>
  <Paragraphs>411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Candara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Satyam Singh</cp:lastModifiedBy>
  <cp:revision>2</cp:revision>
  <dcterms:created xsi:type="dcterms:W3CDTF">2013-01-27T09:14:16Z</dcterms:created>
  <dcterms:modified xsi:type="dcterms:W3CDTF">2026-08-11T13:26:46Z</dcterms:modified>
  <cp:category/>
</cp:coreProperties>
</file>